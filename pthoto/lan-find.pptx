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emf" ContentType="image/x-emf"/>
  <Override PartName="/ppt/notesSlides/notesSlide28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9" r:id="rId1"/>
  </p:sldMasterIdLst>
  <p:notesMasterIdLst>
    <p:notesMasterId r:id="rId45"/>
  </p:notesMasterIdLst>
  <p:handoutMasterIdLst>
    <p:handoutMasterId r:id="rId46"/>
  </p:handoutMasterIdLst>
  <p:sldIdLst>
    <p:sldId id="473" r:id="rId2"/>
    <p:sldId id="668" r:id="rId3"/>
    <p:sldId id="660" r:id="rId4"/>
    <p:sldId id="667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466" r:id="rId13"/>
    <p:sldId id="615" r:id="rId14"/>
    <p:sldId id="616" r:id="rId15"/>
    <p:sldId id="617" r:id="rId16"/>
    <p:sldId id="665" r:id="rId17"/>
    <p:sldId id="666" r:id="rId18"/>
    <p:sldId id="618" r:id="rId19"/>
    <p:sldId id="646" r:id="rId20"/>
    <p:sldId id="655" r:id="rId21"/>
    <p:sldId id="647" r:id="rId22"/>
    <p:sldId id="648" r:id="rId23"/>
    <p:sldId id="650" r:id="rId24"/>
    <p:sldId id="654" r:id="rId25"/>
    <p:sldId id="651" r:id="rId26"/>
    <p:sldId id="657" r:id="rId27"/>
    <p:sldId id="653" r:id="rId28"/>
    <p:sldId id="621" r:id="rId29"/>
    <p:sldId id="634" r:id="rId30"/>
    <p:sldId id="635" r:id="rId31"/>
    <p:sldId id="662" r:id="rId32"/>
    <p:sldId id="661" r:id="rId33"/>
    <p:sldId id="632" r:id="rId34"/>
    <p:sldId id="623" r:id="rId35"/>
    <p:sldId id="656" r:id="rId36"/>
    <p:sldId id="633" r:id="rId37"/>
    <p:sldId id="645" r:id="rId38"/>
    <p:sldId id="644" r:id="rId39"/>
    <p:sldId id="639" r:id="rId40"/>
    <p:sldId id="640" r:id="rId41"/>
    <p:sldId id="641" r:id="rId42"/>
    <p:sldId id="642" r:id="rId43"/>
    <p:sldId id="643" r:id="rId44"/>
  </p:sldIdLst>
  <p:sldSz cx="9906000" cy="6858000" type="A4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339933"/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-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480" autoAdjust="0"/>
    <p:restoredTop sz="94683" autoAdjust="0"/>
  </p:normalViewPr>
  <p:slideViewPr>
    <p:cSldViewPr>
      <p:cViewPr>
        <p:scale>
          <a:sx n="70" d="100"/>
          <a:sy n="70" d="100"/>
        </p:scale>
        <p:origin x="-1260" y="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1704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8.xml"/><Relationship Id="rId2" Type="http://schemas.openxmlformats.org/officeDocument/2006/relationships/slide" Target="slides/slide19.xml"/><Relationship Id="rId1" Type="http://schemas.openxmlformats.org/officeDocument/2006/relationships/slide" Target="slides/slide12.xml"/><Relationship Id="rId5" Type="http://schemas.openxmlformats.org/officeDocument/2006/relationships/slide" Target="slides/slide38.xml"/><Relationship Id="rId4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66E68D-6D8C-4BF5-A134-8BFCD46A2CC0}" type="doc">
      <dgm:prSet loTypeId="urn:microsoft.com/office/officeart/2005/8/layout/funnel1" loCatId="relationship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uk-UA"/>
        </a:p>
      </dgm:t>
    </dgm:pt>
    <dgm:pt modelId="{75D55364-0089-48C8-91C6-152570C8CC6B}">
      <dgm:prSet phldrT="[Текст]" custT="1"/>
      <dgm:spPr/>
      <dgm:t>
        <a:bodyPr/>
        <a:lstStyle/>
        <a:p>
          <a:r>
            <a:rPr lang="uk-UA" sz="1600" dirty="0" smtClean="0">
              <a:solidFill>
                <a:schemeClr val="tx1"/>
              </a:solidFill>
            </a:rPr>
            <a:t>правдива</a:t>
          </a:r>
          <a:endParaRPr lang="uk-UA" sz="1600" dirty="0">
            <a:solidFill>
              <a:schemeClr val="tx1"/>
            </a:solidFill>
          </a:endParaRPr>
        </a:p>
      </dgm:t>
    </dgm:pt>
    <dgm:pt modelId="{0011A305-DFE5-49F5-AC28-E45F4122899B}" type="parTrans" cxnId="{B4D70F1B-C3F4-4CBB-AA05-AF3003004C19}">
      <dgm:prSet/>
      <dgm:spPr/>
      <dgm:t>
        <a:bodyPr/>
        <a:lstStyle/>
        <a:p>
          <a:endParaRPr lang="uk-UA">
            <a:solidFill>
              <a:schemeClr val="tx1"/>
            </a:solidFill>
          </a:endParaRPr>
        </a:p>
      </dgm:t>
    </dgm:pt>
    <dgm:pt modelId="{21FD171D-66B2-47BE-A827-2A1EE928419B}" type="sibTrans" cxnId="{B4D70F1B-C3F4-4CBB-AA05-AF3003004C19}">
      <dgm:prSet/>
      <dgm:spPr/>
      <dgm:t>
        <a:bodyPr/>
        <a:lstStyle/>
        <a:p>
          <a:endParaRPr lang="uk-UA">
            <a:solidFill>
              <a:schemeClr val="tx1"/>
            </a:solidFill>
          </a:endParaRPr>
        </a:p>
      </dgm:t>
    </dgm:pt>
    <dgm:pt modelId="{57928C38-27D8-48ED-9643-5520460BF6BE}">
      <dgm:prSet phldrT="[Текст]" custT="1"/>
      <dgm:spPr/>
      <dgm:t>
        <a:bodyPr/>
        <a:lstStyle/>
        <a:p>
          <a:r>
            <a:rPr lang="uk-UA" sz="1600" dirty="0" smtClean="0">
              <a:solidFill>
                <a:schemeClr val="tx1"/>
              </a:solidFill>
            </a:rPr>
            <a:t>«свіжа»</a:t>
          </a:r>
          <a:endParaRPr lang="uk-UA" sz="1600" dirty="0">
            <a:solidFill>
              <a:schemeClr val="tx1"/>
            </a:solidFill>
          </a:endParaRPr>
        </a:p>
      </dgm:t>
    </dgm:pt>
    <dgm:pt modelId="{E9EA0D13-392D-4938-AA34-89660C9C77F6}" type="parTrans" cxnId="{F02ADF51-CEEB-46DD-BB76-B3413EC4AD23}">
      <dgm:prSet/>
      <dgm:spPr/>
      <dgm:t>
        <a:bodyPr/>
        <a:lstStyle/>
        <a:p>
          <a:endParaRPr lang="uk-UA">
            <a:solidFill>
              <a:schemeClr val="tx1"/>
            </a:solidFill>
          </a:endParaRPr>
        </a:p>
      </dgm:t>
    </dgm:pt>
    <dgm:pt modelId="{00106DFD-47BD-483B-82C6-C9B5EC3625E1}" type="sibTrans" cxnId="{F02ADF51-CEEB-46DD-BB76-B3413EC4AD23}">
      <dgm:prSet/>
      <dgm:spPr/>
      <dgm:t>
        <a:bodyPr/>
        <a:lstStyle/>
        <a:p>
          <a:endParaRPr lang="uk-UA">
            <a:solidFill>
              <a:schemeClr val="tx1"/>
            </a:solidFill>
          </a:endParaRPr>
        </a:p>
      </dgm:t>
    </dgm:pt>
    <dgm:pt modelId="{341B654F-B787-45B1-AD57-EF2E7BC7056B}">
      <dgm:prSet phldrT="[Текст]" custT="1"/>
      <dgm:spPr/>
      <dgm:t>
        <a:bodyPr/>
        <a:lstStyle/>
        <a:p>
          <a:r>
            <a:rPr lang="uk-UA" sz="1800" b="1" dirty="0" smtClean="0">
              <a:solidFill>
                <a:schemeClr val="tx1"/>
              </a:solidFill>
            </a:rPr>
            <a:t>«справжня» інформація</a:t>
          </a:r>
          <a:endParaRPr lang="uk-UA" sz="1800" b="1" dirty="0">
            <a:solidFill>
              <a:schemeClr val="tx1"/>
            </a:solidFill>
          </a:endParaRPr>
        </a:p>
      </dgm:t>
    </dgm:pt>
    <dgm:pt modelId="{94A05758-086F-483C-8A4F-2CFE8F35907B}" type="parTrans" cxnId="{CBAB63EB-55E0-4DFD-84F9-3857F72D99CC}">
      <dgm:prSet/>
      <dgm:spPr/>
      <dgm:t>
        <a:bodyPr/>
        <a:lstStyle/>
        <a:p>
          <a:endParaRPr lang="uk-UA">
            <a:solidFill>
              <a:schemeClr val="tx1"/>
            </a:solidFill>
          </a:endParaRPr>
        </a:p>
      </dgm:t>
    </dgm:pt>
    <dgm:pt modelId="{5528522C-3FA4-4E73-96AD-1143519A7ECA}" type="sibTrans" cxnId="{CBAB63EB-55E0-4DFD-84F9-3857F72D99CC}">
      <dgm:prSet/>
      <dgm:spPr/>
      <dgm:t>
        <a:bodyPr/>
        <a:lstStyle/>
        <a:p>
          <a:endParaRPr lang="uk-UA">
            <a:solidFill>
              <a:schemeClr val="tx1"/>
            </a:solidFill>
          </a:endParaRPr>
        </a:p>
      </dgm:t>
    </dgm:pt>
    <dgm:pt modelId="{7BE6BD99-E5B2-40D3-8668-4CF14F2586BA}">
      <dgm:prSet phldrT="[Текст]" custT="1"/>
      <dgm:spPr/>
      <dgm:t>
        <a:bodyPr/>
        <a:lstStyle/>
        <a:p>
          <a:r>
            <a:rPr lang="uk-UA" sz="1600" dirty="0" smtClean="0">
              <a:solidFill>
                <a:schemeClr val="tx1"/>
              </a:solidFill>
            </a:rPr>
            <a:t>точна</a:t>
          </a:r>
          <a:endParaRPr lang="uk-UA" sz="1600" dirty="0">
            <a:solidFill>
              <a:schemeClr val="tx1"/>
            </a:solidFill>
          </a:endParaRPr>
        </a:p>
      </dgm:t>
    </dgm:pt>
    <dgm:pt modelId="{C7AABA8B-ED3A-4E00-A8C8-5250F26AE3EE}" type="parTrans" cxnId="{8026E1B3-E692-40AA-86FE-31AEE1BF7654}">
      <dgm:prSet/>
      <dgm:spPr/>
      <dgm:t>
        <a:bodyPr/>
        <a:lstStyle/>
        <a:p>
          <a:endParaRPr lang="uk-UA"/>
        </a:p>
      </dgm:t>
    </dgm:pt>
    <dgm:pt modelId="{D59A0121-7779-437B-8FD7-6C14C90803D4}" type="sibTrans" cxnId="{8026E1B3-E692-40AA-86FE-31AEE1BF7654}">
      <dgm:prSet/>
      <dgm:spPr/>
      <dgm:t>
        <a:bodyPr/>
        <a:lstStyle/>
        <a:p>
          <a:endParaRPr lang="uk-UA"/>
        </a:p>
      </dgm:t>
    </dgm:pt>
    <dgm:pt modelId="{9CACF0A3-C8D0-484C-82FB-4A48AA3F39E0}" type="pres">
      <dgm:prSet presAssocID="{0666E68D-6D8C-4BF5-A134-8BFCD46A2CC0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85D6715E-C71F-432E-A7B0-E2D59402FAC8}" type="pres">
      <dgm:prSet presAssocID="{0666E68D-6D8C-4BF5-A134-8BFCD46A2CC0}" presName="ellipse" presStyleLbl="trBgShp" presStyleIdx="0" presStyleCnt="1"/>
      <dgm:spPr/>
      <dgm:t>
        <a:bodyPr/>
        <a:lstStyle/>
        <a:p>
          <a:endParaRPr lang="uk-UA"/>
        </a:p>
      </dgm:t>
    </dgm:pt>
    <dgm:pt modelId="{836AC9BE-B664-4F3C-831F-6548E6367A80}" type="pres">
      <dgm:prSet presAssocID="{0666E68D-6D8C-4BF5-A134-8BFCD46A2CC0}" presName="arrow1" presStyleLbl="fgShp" presStyleIdx="0" presStyleCnt="1" custScaleY="151482"/>
      <dgm:spPr/>
      <dgm:t>
        <a:bodyPr/>
        <a:lstStyle/>
        <a:p>
          <a:endParaRPr lang="uk-UA"/>
        </a:p>
      </dgm:t>
    </dgm:pt>
    <dgm:pt modelId="{A7AE149C-2793-48F0-8AB4-DDE6BBF1FBF0}" type="pres">
      <dgm:prSet presAssocID="{0666E68D-6D8C-4BF5-A134-8BFCD46A2CC0}" presName="rectangle" presStyleLbl="revTx" presStyleIdx="0" presStyleCnt="1" custScaleX="123711" custScaleY="5965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BD61E64D-A1B0-469F-92BF-9AC2AF60193B}" type="pres">
      <dgm:prSet presAssocID="{57928C38-27D8-48ED-9643-5520460BF6BE}" presName="item1" presStyleLbl="node1" presStyleIdx="0" presStyleCnt="3" custScaleX="150413" custLinFactNeighborX="9341" custLinFactNeighborY="-5176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2A19AF5-12E9-4073-B04F-5A414D8D6FD0}" type="pres">
      <dgm:prSet presAssocID="{7BE6BD99-E5B2-40D3-8668-4CF14F2586BA}" presName="item2" presStyleLbl="node1" presStyleIdx="1" presStyleCnt="3" custScaleX="159922" custLinFactNeighborX="-20153" custLinFactNeighborY="938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B0482F94-500A-45B1-AE16-A033EEBDCEFB}" type="pres">
      <dgm:prSet presAssocID="{341B654F-B787-45B1-AD57-EF2E7BC7056B}" presName="item3" presStyleLbl="node1" presStyleIdx="2" presStyleCnt="3" custScaleX="169692" custLinFactNeighborX="8467" custLinFactNeighborY="3335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B0B1F94-0A7F-4FA8-9E31-7C300C89ED94}" type="pres">
      <dgm:prSet presAssocID="{0666E68D-6D8C-4BF5-A134-8BFCD46A2CC0}" presName="funnel" presStyleLbl="trAlignAcc1" presStyleIdx="0" presStyleCnt="1" custScaleX="136034" custScaleY="125186" custLinFactNeighborX="1620" custLinFactNeighborY="5881"/>
      <dgm:spPr/>
      <dgm:t>
        <a:bodyPr/>
        <a:lstStyle/>
        <a:p>
          <a:endParaRPr lang="uk-UA"/>
        </a:p>
      </dgm:t>
    </dgm:pt>
  </dgm:ptLst>
  <dgm:cxnLst>
    <dgm:cxn modelId="{032E3CE0-F113-4CA0-A159-0A4E89A3C4D8}" type="presOf" srcId="{0666E68D-6D8C-4BF5-A134-8BFCD46A2CC0}" destId="{9CACF0A3-C8D0-484C-82FB-4A48AA3F39E0}" srcOrd="0" destOrd="0" presId="urn:microsoft.com/office/officeart/2005/8/layout/funnel1"/>
    <dgm:cxn modelId="{8026E1B3-E692-40AA-86FE-31AEE1BF7654}" srcId="{0666E68D-6D8C-4BF5-A134-8BFCD46A2CC0}" destId="{7BE6BD99-E5B2-40D3-8668-4CF14F2586BA}" srcOrd="2" destOrd="0" parTransId="{C7AABA8B-ED3A-4E00-A8C8-5250F26AE3EE}" sibTransId="{D59A0121-7779-437B-8FD7-6C14C90803D4}"/>
    <dgm:cxn modelId="{CBAB63EB-55E0-4DFD-84F9-3857F72D99CC}" srcId="{0666E68D-6D8C-4BF5-A134-8BFCD46A2CC0}" destId="{341B654F-B787-45B1-AD57-EF2E7BC7056B}" srcOrd="3" destOrd="0" parTransId="{94A05758-086F-483C-8A4F-2CFE8F35907B}" sibTransId="{5528522C-3FA4-4E73-96AD-1143519A7ECA}"/>
    <dgm:cxn modelId="{3FF0DA02-0A49-45F2-8FF8-05EE7BF06D97}" type="presOf" srcId="{75D55364-0089-48C8-91C6-152570C8CC6B}" destId="{B0482F94-500A-45B1-AE16-A033EEBDCEFB}" srcOrd="0" destOrd="0" presId="urn:microsoft.com/office/officeart/2005/8/layout/funnel1"/>
    <dgm:cxn modelId="{B4D70F1B-C3F4-4CBB-AA05-AF3003004C19}" srcId="{0666E68D-6D8C-4BF5-A134-8BFCD46A2CC0}" destId="{75D55364-0089-48C8-91C6-152570C8CC6B}" srcOrd="0" destOrd="0" parTransId="{0011A305-DFE5-49F5-AC28-E45F4122899B}" sibTransId="{21FD171D-66B2-47BE-A827-2A1EE928419B}"/>
    <dgm:cxn modelId="{93212929-D2EC-429B-A638-626FE41DD034}" type="presOf" srcId="{341B654F-B787-45B1-AD57-EF2E7BC7056B}" destId="{A7AE149C-2793-48F0-8AB4-DDE6BBF1FBF0}" srcOrd="0" destOrd="0" presId="urn:microsoft.com/office/officeart/2005/8/layout/funnel1"/>
    <dgm:cxn modelId="{A5E2639A-D6DA-49F1-9F00-1140855F27B7}" type="presOf" srcId="{7BE6BD99-E5B2-40D3-8668-4CF14F2586BA}" destId="{BD61E64D-A1B0-469F-92BF-9AC2AF60193B}" srcOrd="0" destOrd="0" presId="urn:microsoft.com/office/officeart/2005/8/layout/funnel1"/>
    <dgm:cxn modelId="{F02ADF51-CEEB-46DD-BB76-B3413EC4AD23}" srcId="{0666E68D-6D8C-4BF5-A134-8BFCD46A2CC0}" destId="{57928C38-27D8-48ED-9643-5520460BF6BE}" srcOrd="1" destOrd="0" parTransId="{E9EA0D13-392D-4938-AA34-89660C9C77F6}" sibTransId="{00106DFD-47BD-483B-82C6-C9B5EC3625E1}"/>
    <dgm:cxn modelId="{4EB1302A-230A-4ADC-901D-D136DBB3B5AC}" type="presOf" srcId="{57928C38-27D8-48ED-9643-5520460BF6BE}" destId="{72A19AF5-12E9-4073-B04F-5A414D8D6FD0}" srcOrd="0" destOrd="0" presId="urn:microsoft.com/office/officeart/2005/8/layout/funnel1"/>
    <dgm:cxn modelId="{341D5D5E-6F91-42DF-8A03-B9311C88ED15}" type="presParOf" srcId="{9CACF0A3-C8D0-484C-82FB-4A48AA3F39E0}" destId="{85D6715E-C71F-432E-A7B0-E2D59402FAC8}" srcOrd="0" destOrd="0" presId="urn:microsoft.com/office/officeart/2005/8/layout/funnel1"/>
    <dgm:cxn modelId="{4909A9E7-14B9-4D40-AF70-8A71101CDE22}" type="presParOf" srcId="{9CACF0A3-C8D0-484C-82FB-4A48AA3F39E0}" destId="{836AC9BE-B664-4F3C-831F-6548E6367A80}" srcOrd="1" destOrd="0" presId="urn:microsoft.com/office/officeart/2005/8/layout/funnel1"/>
    <dgm:cxn modelId="{4E91C9D3-431D-4C56-96FF-2436EAC002DE}" type="presParOf" srcId="{9CACF0A3-C8D0-484C-82FB-4A48AA3F39E0}" destId="{A7AE149C-2793-48F0-8AB4-DDE6BBF1FBF0}" srcOrd="2" destOrd="0" presId="urn:microsoft.com/office/officeart/2005/8/layout/funnel1"/>
    <dgm:cxn modelId="{728D3E89-6549-48DF-8552-8554611EC09E}" type="presParOf" srcId="{9CACF0A3-C8D0-484C-82FB-4A48AA3F39E0}" destId="{BD61E64D-A1B0-469F-92BF-9AC2AF60193B}" srcOrd="3" destOrd="0" presId="urn:microsoft.com/office/officeart/2005/8/layout/funnel1"/>
    <dgm:cxn modelId="{C9716949-D65A-4853-9755-A4CB9276D2ED}" type="presParOf" srcId="{9CACF0A3-C8D0-484C-82FB-4A48AA3F39E0}" destId="{72A19AF5-12E9-4073-B04F-5A414D8D6FD0}" srcOrd="4" destOrd="0" presId="urn:microsoft.com/office/officeart/2005/8/layout/funnel1"/>
    <dgm:cxn modelId="{10307AD8-3909-4132-BA1C-767A704D609D}" type="presParOf" srcId="{9CACF0A3-C8D0-484C-82FB-4A48AA3F39E0}" destId="{B0482F94-500A-45B1-AE16-A033EEBDCEFB}" srcOrd="5" destOrd="0" presId="urn:microsoft.com/office/officeart/2005/8/layout/funnel1"/>
    <dgm:cxn modelId="{9976F619-A748-4C69-8265-E7B65EAB49E1}" type="presParOf" srcId="{9CACF0A3-C8D0-484C-82FB-4A48AA3F39E0}" destId="{6B0B1F94-0A7F-4FA8-9E31-7C300C89ED94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5D6715E-C71F-432E-A7B0-E2D59402FAC8}">
      <dsp:nvSpPr>
        <dsp:cNvPr id="0" name=""/>
        <dsp:cNvSpPr/>
      </dsp:nvSpPr>
      <dsp:spPr>
        <a:xfrm>
          <a:off x="1833538" y="526526"/>
          <a:ext cx="4097083" cy="1422863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AC9BE-B664-4F3C-831F-6548E6367A80}">
      <dsp:nvSpPr>
        <dsp:cNvPr id="0" name=""/>
        <dsp:cNvSpPr/>
      </dsp:nvSpPr>
      <dsp:spPr>
        <a:xfrm>
          <a:off x="3491427" y="3879828"/>
          <a:ext cx="794008" cy="769779"/>
        </a:xfrm>
        <a:prstGeom prst="down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A7AE149C-2793-48F0-8AB4-DDE6BBF1FBF0}">
      <dsp:nvSpPr>
        <dsp:cNvPr id="0" name=""/>
        <dsp:cNvSpPr/>
      </dsp:nvSpPr>
      <dsp:spPr>
        <a:xfrm>
          <a:off x="1530970" y="4609382"/>
          <a:ext cx="4714923" cy="568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kern="1200" dirty="0" smtClean="0">
              <a:solidFill>
                <a:schemeClr val="tx1"/>
              </a:solidFill>
            </a:rPr>
            <a:t>«справжня» інформація</a:t>
          </a:r>
          <a:endParaRPr lang="uk-UA" sz="1800" b="1" kern="1200" dirty="0">
            <a:solidFill>
              <a:schemeClr val="tx1"/>
            </a:solidFill>
          </a:endParaRPr>
        </a:p>
      </dsp:txBody>
      <dsp:txXfrm>
        <a:off x="1530970" y="4609382"/>
        <a:ext cx="4714923" cy="568379"/>
      </dsp:txXfrm>
    </dsp:sp>
    <dsp:sp modelId="{BD61E64D-A1B0-469F-92BF-9AC2AF60193B}">
      <dsp:nvSpPr>
        <dsp:cNvPr id="0" name=""/>
        <dsp:cNvSpPr/>
      </dsp:nvSpPr>
      <dsp:spPr>
        <a:xfrm>
          <a:off x="3096345" y="1985303"/>
          <a:ext cx="2149725" cy="142921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>
              <a:solidFill>
                <a:schemeClr val="tx1"/>
              </a:solidFill>
            </a:rPr>
            <a:t>точною.</a:t>
          </a:r>
          <a:endParaRPr lang="uk-UA" sz="1600" kern="1200" dirty="0">
            <a:solidFill>
              <a:schemeClr val="tx1"/>
            </a:solidFill>
          </a:endParaRPr>
        </a:p>
      </dsp:txBody>
      <dsp:txXfrm>
        <a:off x="3096345" y="1985303"/>
        <a:ext cx="2149725" cy="1429215"/>
      </dsp:txXfrm>
    </dsp:sp>
    <dsp:sp modelId="{72A19AF5-12E9-4073-B04F-5A414D8D6FD0}">
      <dsp:nvSpPr>
        <dsp:cNvPr id="0" name=""/>
        <dsp:cNvSpPr/>
      </dsp:nvSpPr>
      <dsp:spPr>
        <a:xfrm>
          <a:off x="1584178" y="1121211"/>
          <a:ext cx="2285629" cy="1429215"/>
        </a:xfrm>
        <a:prstGeom prst="ellipse">
          <a:avLst/>
        </a:prstGeom>
        <a:gradFill rotWithShape="0">
          <a:gsLst>
            <a:gs pos="0">
              <a:schemeClr val="accent2">
                <a:hueOff val="419388"/>
                <a:satOff val="-3962"/>
                <a:lumOff val="-4118"/>
                <a:alphaOff val="0"/>
                <a:shade val="51000"/>
                <a:satMod val="130000"/>
              </a:schemeClr>
            </a:gs>
            <a:gs pos="80000">
              <a:schemeClr val="accent2">
                <a:hueOff val="419388"/>
                <a:satOff val="-3962"/>
                <a:lumOff val="-4118"/>
                <a:alphaOff val="0"/>
                <a:shade val="93000"/>
                <a:satMod val="130000"/>
              </a:schemeClr>
            </a:gs>
            <a:gs pos="100000">
              <a:schemeClr val="accent2">
                <a:hueOff val="419388"/>
                <a:satOff val="-3962"/>
                <a:lumOff val="-41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>
              <a:solidFill>
                <a:schemeClr val="tx1"/>
              </a:solidFill>
            </a:rPr>
            <a:t>«свіжою»,</a:t>
          </a:r>
          <a:endParaRPr lang="uk-UA" sz="1600" kern="1200" dirty="0">
            <a:solidFill>
              <a:schemeClr val="tx1"/>
            </a:solidFill>
          </a:endParaRPr>
        </a:p>
      </dsp:txBody>
      <dsp:txXfrm>
        <a:off x="1584178" y="1121211"/>
        <a:ext cx="2285629" cy="1429215"/>
      </dsp:txXfrm>
    </dsp:sp>
    <dsp:sp modelId="{B0482F94-500A-45B1-AE16-A033EEBDCEFB}">
      <dsp:nvSpPr>
        <dsp:cNvPr id="0" name=""/>
        <dsp:cNvSpPr/>
      </dsp:nvSpPr>
      <dsp:spPr>
        <a:xfrm>
          <a:off x="3384377" y="689162"/>
          <a:ext cx="2425263" cy="1429215"/>
        </a:xfrm>
        <a:prstGeom prst="ellipse">
          <a:avLst/>
        </a:prstGeom>
        <a:gradFill rotWithShape="0">
          <a:gsLst>
            <a:gs pos="0">
              <a:schemeClr val="accent2">
                <a:hueOff val="838776"/>
                <a:satOff val="-7923"/>
                <a:lumOff val="-8237"/>
                <a:alphaOff val="0"/>
                <a:shade val="51000"/>
                <a:satMod val="130000"/>
              </a:schemeClr>
            </a:gs>
            <a:gs pos="80000">
              <a:schemeClr val="accent2">
                <a:hueOff val="838776"/>
                <a:satOff val="-7923"/>
                <a:lumOff val="-8237"/>
                <a:alphaOff val="0"/>
                <a:shade val="93000"/>
                <a:satMod val="130000"/>
              </a:schemeClr>
            </a:gs>
            <a:gs pos="100000">
              <a:schemeClr val="accent2">
                <a:hueOff val="838776"/>
                <a:satOff val="-7923"/>
                <a:lumOff val="-82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>
              <a:solidFill>
                <a:schemeClr val="tx1"/>
              </a:solidFill>
            </a:rPr>
            <a:t>правдивою,</a:t>
          </a:r>
          <a:endParaRPr lang="uk-UA" sz="1600" kern="1200" dirty="0">
            <a:solidFill>
              <a:schemeClr val="tx1"/>
            </a:solidFill>
          </a:endParaRPr>
        </a:p>
      </dsp:txBody>
      <dsp:txXfrm>
        <a:off x="3384377" y="689162"/>
        <a:ext cx="2425263" cy="1429215"/>
      </dsp:txXfrm>
    </dsp:sp>
    <dsp:sp modelId="{6B0B1F94-0A7F-4FA8-9E31-7C300C89ED94}">
      <dsp:nvSpPr>
        <dsp:cNvPr id="0" name=""/>
        <dsp:cNvSpPr/>
      </dsp:nvSpPr>
      <dsp:spPr>
        <a:xfrm>
          <a:off x="936124" y="113087"/>
          <a:ext cx="6048680" cy="4453063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0209C829-B471-4E26-A41D-CCBB7EED1AFE}" type="datetimeFigureOut">
              <a:rPr lang="uk-UA"/>
              <a:pPr>
                <a:defRPr/>
              </a:pPr>
              <a:t>19.06.2022</a:t>
            </a:fld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0C3A74F-4832-49F1-B6D2-5B976AEA2528}" type="slidenum">
              <a:rPr lang="uk-UA"/>
              <a:pPr>
                <a:defRPr/>
              </a:pPr>
              <a:t>‹№›</a:t>
            </a:fld>
            <a:endParaRPr lang="uk-UA"/>
          </a:p>
        </p:txBody>
      </p:sp>
      <p:sp>
        <p:nvSpPr>
          <p:cNvPr id="8" name="Верхний колонтитул 7"/>
          <p:cNvSpPr>
            <a:spLocks noGrp="1"/>
          </p:cNvSpPr>
          <p:nvPr>
            <p:ph type="hd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B7BCB4CD-42C2-4E0D-BED7-95ECD203575A}" type="datetimeFigureOut">
              <a:rPr lang="uk-UA"/>
              <a:pPr>
                <a:defRPr/>
              </a:pPr>
              <a:t>19.06.2022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noProof="0" smtClean="0"/>
              <a:t>Зразок тексту</a:t>
            </a:r>
          </a:p>
          <a:p>
            <a:pPr lvl="1"/>
            <a:r>
              <a:rPr lang="uk-UA" noProof="0" smtClean="0"/>
              <a:t>Другий рівень</a:t>
            </a:r>
          </a:p>
          <a:p>
            <a:pPr lvl="2"/>
            <a:r>
              <a:rPr lang="uk-UA" noProof="0" smtClean="0"/>
              <a:t>Третій рівень</a:t>
            </a:r>
          </a:p>
          <a:p>
            <a:pPr lvl="3"/>
            <a:r>
              <a:rPr lang="uk-UA" noProof="0" smtClean="0"/>
              <a:t>Четвертий рівень</a:t>
            </a:r>
          </a:p>
          <a:p>
            <a:pPr lvl="4"/>
            <a:r>
              <a:rPr lang="uk-UA" noProof="0" smtClean="0"/>
              <a:t>П'ятий рівень</a:t>
            </a:r>
            <a:endParaRPr lang="uk-UA" noProof="0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D924C6D6-C307-4D00-9F89-E17B98DEB3A8}" type="slidenum">
              <a:rPr lang="uk-UA"/>
              <a:pPr>
                <a:defRPr/>
              </a:pPr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6</a:t>
            </a:fld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7</a:t>
            </a:fld>
            <a:endParaRPr lang="uk-U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8</a:t>
            </a:fld>
            <a:endParaRPr lang="uk-U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9</a:t>
            </a:fld>
            <a:endParaRPr lang="uk-U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10</a:t>
            </a:fld>
            <a:endParaRPr lang="uk-U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11</a:t>
            </a:fld>
            <a:endParaRPr lang="uk-U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12</a:t>
            </a:fld>
            <a:endParaRPr lang="uk-U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13</a:t>
            </a:fld>
            <a:endParaRPr lang="uk-UA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14</a:t>
            </a:fld>
            <a:endParaRPr lang="uk-UA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15</a:t>
            </a:fld>
            <a:endParaRPr lang="uk-UA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16</a:t>
            </a:fld>
            <a:endParaRPr lang="uk-UA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17</a:t>
            </a:fld>
            <a:endParaRPr lang="uk-UA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18</a:t>
            </a:fld>
            <a:endParaRPr lang="uk-UA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19</a:t>
            </a:fld>
            <a:endParaRPr lang="uk-U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20</a:t>
            </a:fld>
            <a:endParaRPr lang="uk-U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21</a:t>
            </a:fld>
            <a:endParaRPr lang="uk-U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22</a:t>
            </a:fld>
            <a:endParaRPr lang="uk-U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23</a:t>
            </a:fld>
            <a:endParaRPr lang="uk-U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24</a:t>
            </a:fld>
            <a:endParaRPr lang="uk-U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25</a:t>
            </a:fld>
            <a:endParaRPr lang="uk-U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27</a:t>
            </a:fld>
            <a:endParaRPr lang="uk-U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28</a:t>
            </a:fld>
            <a:endParaRPr lang="uk-U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29</a:t>
            </a:fld>
            <a:endParaRPr lang="uk-U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30</a:t>
            </a:fld>
            <a:endParaRPr lang="uk-U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33</a:t>
            </a:fld>
            <a:endParaRPr lang="uk-UA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34</a:t>
            </a:fld>
            <a:endParaRPr lang="uk-U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35</a:t>
            </a:fld>
            <a:endParaRPr lang="uk-U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36</a:t>
            </a:fld>
            <a:endParaRPr lang="uk-U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37</a:t>
            </a:fld>
            <a:endParaRPr lang="uk-U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38</a:t>
            </a:fld>
            <a:endParaRPr lang="uk-U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39</a:t>
            </a:fld>
            <a:endParaRPr lang="uk-U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40</a:t>
            </a:fld>
            <a:endParaRPr lang="uk-U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41</a:t>
            </a:fld>
            <a:endParaRPr lang="uk-U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42</a:t>
            </a:fld>
            <a:endParaRPr lang="uk-U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24C6D6-C307-4D00-9F89-E17B98DEB3A8}" type="slidenum">
              <a:rPr lang="uk-UA" smtClean="0"/>
              <a:pPr>
                <a:defRPr/>
              </a:pPr>
              <a:t>43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вичай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906000" cy="692696"/>
          </a:xfr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</a:bodyPr>
          <a:lstStyle>
            <a:lvl1pPr algn="ctr">
              <a:defRPr sz="4000">
                <a:latin typeface="+mj-lt"/>
              </a:defRPr>
            </a:lvl1pPr>
          </a:lstStyle>
          <a:p>
            <a:r>
              <a:rPr lang="ru-RU" dirty="0" smtClean="0"/>
              <a:t>Тема слайду</a:t>
            </a:r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ма уро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2060848"/>
            <a:ext cx="9906000" cy="1872208"/>
          </a:xfrm>
          <a:prstGeom prst="rect">
            <a:avLst/>
          </a:prstGeom>
          <a:noFill/>
        </p:spPr>
        <p:txBody>
          <a:bodyPr/>
          <a:lstStyle>
            <a:lvl1pPr algn="ctr">
              <a:defRPr sz="4800" baseline="0">
                <a:latin typeface="+mj-lt"/>
              </a:defRPr>
            </a:lvl1pPr>
          </a:lstStyle>
          <a:p>
            <a:r>
              <a:rPr lang="uk-UA" dirty="0" smtClean="0"/>
              <a:t>Тема уроку</a:t>
            </a:r>
            <a:endParaRPr lang="uk-UA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"/>
            <a:ext cx="9906000" cy="476671"/>
          </a:xfrm>
          <a:prstGeom prst="rect">
            <a:avLst/>
          </a:prstGeom>
        </p:spPr>
        <p:txBody>
          <a:bodyPr/>
          <a:lstStyle>
            <a:lvl1pPr algn="ctr">
              <a:buNone/>
              <a:defRPr sz="2400" b="1" baseline="0">
                <a:solidFill>
                  <a:srgbClr val="0000FF"/>
                </a:solidFill>
                <a:latin typeface="Verdana" pitchFamily="34" charset="0"/>
              </a:defRPr>
            </a:lvl1pPr>
          </a:lstStyle>
          <a:p>
            <a:pPr lvl="0"/>
            <a:r>
              <a:rPr lang="uk-UA" noProof="0" dirty="0" smtClean="0"/>
              <a:t>Тема розділу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ка">
    <p:bg>
      <p:bgPr>
        <a:blipFill>
          <a:blip r:embed="rId2" cstate="screen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906000" cy="692696"/>
          </a:xfrm>
          <a:noFill/>
        </p:spPr>
        <p:txBody>
          <a:bodyPr/>
          <a:lstStyle>
            <a:lvl1pPr algn="ctr">
              <a:defRPr sz="2800" baseline="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uk-UA" noProof="0" dirty="0" smtClean="0"/>
              <a:t>Тема розділу</a:t>
            </a:r>
            <a:endParaRPr lang="uk-UA" noProof="0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344488" y="1268760"/>
            <a:ext cx="9205023" cy="4680520"/>
          </a:xfrm>
          <a:prstGeom prst="rect">
            <a:avLst/>
          </a:prstGeom>
        </p:spPr>
        <p:txBody>
          <a:bodyPr/>
          <a:lstStyle>
            <a:lvl1pPr marL="0" indent="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  <a:defRPr sz="2800" b="1" u="sng" baseline="0">
                <a:solidFill>
                  <a:srgbClr val="0000FF"/>
                </a:solidFill>
                <a:latin typeface="+mj-lt"/>
              </a:defRPr>
            </a:lvl1pPr>
          </a:lstStyle>
          <a:p>
            <a:pPr lvl="0"/>
            <a:r>
              <a:rPr lang="uk-UA" dirty="0" smtClean="0"/>
              <a:t>Тема уроку.</a:t>
            </a:r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uk-UA" dirty="0" smtClean="0"/>
          </a:p>
          <a:p>
            <a:pPr lvl="0"/>
            <a:endParaRPr lang="ru-RU" dirty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62068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Тема слайда</a:t>
            </a:r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7" r:id="rId2"/>
    <p:sldLayoutId id="2147483712" r:id="rId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1800" b="1" kern="1200">
          <a:solidFill>
            <a:schemeClr val="tx1"/>
          </a:solidFill>
          <a:latin typeface="+mn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3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8.xml"/><Relationship Id="rId4" Type="http://schemas.openxmlformats.org/officeDocument/2006/relationships/slide" Target="slide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uk-UA" sz="2400" dirty="0" smtClean="0"/>
              <a:t>Мережеві технології та Інтернет</a:t>
            </a:r>
            <a:endParaRPr lang="uk-UA" sz="2400" dirty="0">
              <a:solidFill>
                <a:sysClr val="windowText" lastClr="000000"/>
              </a:solidFill>
            </a:endParaRP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12"/>
          </p:nvPr>
        </p:nvSpPr>
        <p:spPr>
          <a:xfrm>
            <a:off x="344488" y="980728"/>
            <a:ext cx="9205023" cy="5616624"/>
          </a:xfrm>
        </p:spPr>
        <p:txBody>
          <a:bodyPr>
            <a:noAutofit/>
          </a:bodyPr>
          <a:lstStyle/>
          <a:p>
            <a:r>
              <a:rPr lang="uk-UA" sz="2400" u="none" dirty="0" smtClean="0">
                <a:hlinkClick r:id="rId3" action="ppaction://hlinksldjump"/>
              </a:rPr>
              <a:t>Локальна мережа</a:t>
            </a:r>
            <a:endParaRPr lang="uk-UA" sz="2400" u="none" dirty="0" smtClean="0"/>
          </a:p>
          <a:p>
            <a:r>
              <a:rPr lang="uk-UA" sz="2400" u="none" dirty="0" smtClean="0">
                <a:hlinkClick r:id="rId4" action="ppaction://hlinksldjump"/>
              </a:rPr>
              <a:t>Вебсайти</a:t>
            </a:r>
            <a:endParaRPr lang="uk-UA" sz="2400" u="none" dirty="0" smtClean="0"/>
          </a:p>
          <a:p>
            <a:r>
              <a:rPr lang="uk-UA" sz="2400" u="none" dirty="0" smtClean="0">
                <a:hlinkClick r:id="rId5" action="ppaction://hlinksldjump"/>
              </a:rPr>
              <a:t>Пошук в Інтернеті</a:t>
            </a:r>
            <a:endParaRPr lang="uk-UA" sz="2400" u="none" dirty="0" smtClean="0"/>
          </a:p>
          <a:p>
            <a:r>
              <a:rPr lang="uk-UA" sz="2400" u="none" dirty="0" smtClean="0">
                <a:hlinkClick r:id="rId6" action="ppaction://hlinksldjump"/>
              </a:rPr>
              <a:t>Авторське право</a:t>
            </a:r>
            <a:endParaRPr lang="en-US" sz="2400" u="none" dirty="0" smtClean="0"/>
          </a:p>
          <a:p>
            <a:r>
              <a:rPr lang="uk-UA" sz="2400" u="none" dirty="0" smtClean="0">
                <a:hlinkClick r:id="rId7" action="ppaction://hlinksldjump"/>
              </a:rPr>
              <a:t>Навчання </a:t>
            </a:r>
            <a:r>
              <a:rPr lang="uk-UA" sz="2400" u="none" smtClean="0">
                <a:hlinkClick r:id="rId7" action="ppaction://hlinksldjump"/>
              </a:rPr>
              <a:t>в Інтернеті</a:t>
            </a:r>
            <a:endParaRPr lang="uk-UA" sz="2400" u="non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Власне цифрове середовище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23544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Інформаційні (цифрові) технології. Інформаційні процеси.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Комп’ютери, їх різновиди та складові. Процесор.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Програмне забезпечення. Операційна система, її інтерфейс. Файлова система.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Локальні мережі. Мережні ресурси.</a:t>
            </a:r>
            <a:endParaRPr lang="uk-UA" sz="14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Пошук в Інтернеті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1708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Інтернет. Сайти. Браузер, налаштування під потреби (в т.ч. на мобільних пристроях).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Пошукові системи. Ключові слова. Пошук різних типів інформації в Інтернеті.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Критичне оцінювання інформації. Безпечне користування Інтернетом. Академічна доброчесність.</a:t>
            </a:r>
            <a:endParaRPr lang="uk-UA" sz="1400" dirty="0" smtClean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Текстові документи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267765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Об’єкти текстового документа. Програми опрацювання текстів.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Правила введення тексту. Редагування тексту, перевірка правопису. Збереження тексту і різних форматах та місцях.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Форматування списків, таблиць, графічних та інших об’єктів.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Параметри сторінок та друкування документа.</a:t>
            </a:r>
            <a:endParaRPr lang="uk-UA" sz="1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Комп’ютерна графіка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1708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Растрові та векторні зображення, формати, їх перетворення. Графічний редактор.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Редагування (зображень, фото і знімків екрана). Додаванна тексту.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Графічні примітиви. Операції над об’єктами.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Алгоритми та програми. Анімації та узори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23544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Алгоритми, виконавці, системи команд, способи опису. Програма, моделювання.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Лінійні алгоритми, розгалуження, повторення, анімація руху, керування рухом об’єктів.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Висловлювання, істинні та хибні.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Побудова графічних об’єктів, узорів.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Презентації та анімації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23544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Етапи створення презентації, вимоги до оформлення. Об’єкти презентації.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Налаштування показу.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Ефекти анімації.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Представлення, оцінювання презентації та виступ перед аудиторією.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Інформаційні системи та мережі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30008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Інформаційні системи, їх складові.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ППЗ. Ліцензії на ПЗ.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Сервіси Інтернет. Хмарні сервіси. Колективна робота.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Ресурси для навчання та відпочинку. Перекладачі.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Інтернет речей.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Спілкування в Інтернеті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23544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Поштова служба. Електронна скринька. 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Етикет листування, безпечне користування. Спам, фішинг.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Месенджери. Форуми. Соціальні мережі. Форуми. Чати. Вебконференції.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Персональні та конфіденційні дані. Кібербезпека. Інтернет-залежність. Цифрова гігієна.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Інформаційна мозаїка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30008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Інформація, повідомлення, дані. Види, способи подання, форми.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Перетворення інформації. Кодування. 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Об’єкти. Властивості та значення властивостей. Класифікація.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Модель. Інфорграфіка. Мультимедіа.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Інформатика. Цифрова компетентність.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Алгоритми та програми. Ігрові проєкти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4356"/>
            <a:ext cx="9906000" cy="23544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Програмний об’єкт, його властивості.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Події. Види. Опрацювання події.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Вкладені алг структури.</a:t>
            </a:r>
          </a:p>
          <a:p>
            <a:pPr>
              <a:lnSpc>
                <a:spcPct val="150000"/>
              </a:lnSpc>
            </a:pPr>
            <a:endParaRPr lang="uk-UA" sz="140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uk-UA" sz="1400" smtClean="0">
                <a:solidFill>
                  <a:schemeClr val="tx1"/>
                </a:solidFill>
              </a:rPr>
              <a:t>Розклад задачі на підзадачі.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Локальна мережа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Мережеві технології та Інтернет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Комп’ютерна мережа</a:t>
            </a:r>
            <a:r>
              <a:rPr lang="en-US" dirty="0" smtClean="0">
                <a:latin typeface="Calibri" pitchFamily="34" charset="0"/>
              </a:rPr>
              <a:t> </a:t>
            </a:r>
            <a:r>
              <a:rPr lang="uk-UA" dirty="0" smtClean="0">
                <a:latin typeface="Calibri" pitchFamily="34" charset="0"/>
              </a:rPr>
              <a:t>–</a:t>
            </a:r>
            <a:endParaRPr lang="ru-RU" dirty="0"/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166654" y="1155700"/>
            <a:ext cx="18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uk-UA" dirty="0" smtClean="0">
                <a:latin typeface="+mn-lt"/>
              </a:rPr>
              <a:t>комп’ютери,</a:t>
            </a:r>
            <a:endParaRPr lang="uk-UA" dirty="0">
              <a:latin typeface="+mn-lt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66654" y="2573577"/>
            <a:ext cx="25003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uk-UA" dirty="0" smtClean="0">
                <a:latin typeface="+mn-lt"/>
              </a:rPr>
              <a:t>мережеві пристрої,</a:t>
            </a:r>
          </a:p>
          <a:p>
            <a:r>
              <a:rPr lang="uk-UA" sz="1400" dirty="0" smtClean="0">
                <a:solidFill>
                  <a:srgbClr val="0000FF"/>
                </a:solidFill>
                <a:latin typeface="+mn-lt"/>
              </a:rPr>
              <a:t>(модем, роутер)</a:t>
            </a:r>
            <a:endParaRPr lang="uk-UA" sz="1400" dirty="0">
              <a:latin typeface="+mn-lt"/>
            </a:endParaRP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166654" y="5691568"/>
            <a:ext cx="26134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uk-UA" dirty="0" smtClean="0">
                <a:latin typeface="+mn-lt"/>
              </a:rPr>
              <a:t>мережеві програми.</a:t>
            </a:r>
            <a:endParaRPr lang="uk-UA" dirty="0">
              <a:latin typeface="+mn-lt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166654" y="4271072"/>
            <a:ext cx="18573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uk-UA" dirty="0" smtClean="0">
                <a:latin typeface="+mn-lt"/>
              </a:rPr>
              <a:t>лінії зв’язку,</a:t>
            </a:r>
            <a:endParaRPr lang="uk-UA" dirty="0">
              <a:latin typeface="+mn-lt"/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3440832" y="980728"/>
            <a:ext cx="4967288" cy="1009650"/>
            <a:chOff x="2110" y="526"/>
            <a:chExt cx="3129" cy="636"/>
          </a:xfrm>
        </p:grpSpPr>
        <p:pic>
          <p:nvPicPr>
            <p:cNvPr id="13" name="Picture 11" descr="20_derevo_7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2110" y="527"/>
              <a:ext cx="635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2" descr="20_derevo_7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2941" y="527"/>
              <a:ext cx="635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3" descr="20_derevo_7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3772" y="526"/>
              <a:ext cx="635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14" descr="20_derevo_7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4604" y="526"/>
              <a:ext cx="635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Групувати 30"/>
          <p:cNvGrpSpPr/>
          <p:nvPr/>
        </p:nvGrpSpPr>
        <p:grpSpPr>
          <a:xfrm>
            <a:off x="2864768" y="3679908"/>
            <a:ext cx="6863234" cy="1513483"/>
            <a:chOff x="2555875" y="5157192"/>
            <a:chExt cx="6863234" cy="1513483"/>
          </a:xfrm>
        </p:grpSpPr>
        <p:pic>
          <p:nvPicPr>
            <p:cNvPr id="27" name="Picture 23"/>
            <p:cNvPicPr>
              <a:picLocks noChangeAspect="1" noChangeArrowheads="1"/>
            </p:cNvPicPr>
            <p:nvPr/>
          </p:nvPicPr>
          <p:blipFill>
            <a:blip r:embed="rId4" cstate="screen"/>
            <a:srcRect t="21715"/>
            <a:stretch>
              <a:fillRect/>
            </a:stretch>
          </p:blipFill>
          <p:spPr bwMode="auto">
            <a:xfrm>
              <a:off x="2555875" y="5373216"/>
              <a:ext cx="1657350" cy="12974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" name="Picture 24"/>
            <p:cNvPicPr>
              <a:picLocks noChangeAspect="1" noChangeArrowheads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4592960" y="5157192"/>
              <a:ext cx="1500188" cy="1500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" name="Picture 26"/>
            <p:cNvPicPr>
              <a:picLocks noChangeAspect="1" noChangeArrowheads="1"/>
            </p:cNvPicPr>
            <p:nvPr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6393160" y="5301208"/>
              <a:ext cx="1047750" cy="1047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" name="Picture 27"/>
            <p:cNvPicPr>
              <a:picLocks noChangeAspect="1" noChangeArrowheads="1"/>
            </p:cNvPicPr>
            <p:nvPr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7617296" y="5157192"/>
              <a:ext cx="1801813" cy="1343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Групувати 30"/>
          <p:cNvGrpSpPr/>
          <p:nvPr/>
        </p:nvGrpSpPr>
        <p:grpSpPr>
          <a:xfrm>
            <a:off x="3584848" y="2242212"/>
            <a:ext cx="5904656" cy="1185862"/>
            <a:chOff x="3224808" y="3736169"/>
            <a:chExt cx="5904656" cy="1185862"/>
          </a:xfrm>
        </p:grpSpPr>
        <p:pic>
          <p:nvPicPr>
            <p:cNvPr id="24" name="Picture 21"/>
            <p:cNvPicPr>
              <a:picLocks noChangeAspect="1" noChangeArrowheads="1"/>
            </p:cNvPicPr>
            <p:nvPr/>
          </p:nvPicPr>
          <p:blipFill>
            <a:blip r:embed="rId8" cstate="screen"/>
            <a:srcRect/>
            <a:stretch>
              <a:fillRect/>
            </a:stretch>
          </p:blipFill>
          <p:spPr bwMode="auto">
            <a:xfrm>
              <a:off x="5241032" y="3736169"/>
              <a:ext cx="2195513" cy="1185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22"/>
            <p:cNvPicPr>
              <a:picLocks noChangeAspect="1" noChangeArrowheads="1"/>
            </p:cNvPicPr>
            <p:nvPr/>
          </p:nvPicPr>
          <p:blipFill>
            <a:blip r:embed="rId9" cstate="screen"/>
            <a:srcRect t="16509" b="21581"/>
            <a:stretch>
              <a:fillRect/>
            </a:stretch>
          </p:blipFill>
          <p:spPr bwMode="auto">
            <a:xfrm>
              <a:off x="3224808" y="3789040"/>
              <a:ext cx="1744663" cy="1080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530" name="Picture 2" descr="http://maininfo.org/img/kak-vibrat-router1.jpg"/>
            <p:cNvPicPr>
              <a:picLocks noChangeAspect="1" noChangeArrowheads="1"/>
            </p:cNvPicPr>
            <p:nvPr/>
          </p:nvPicPr>
          <p:blipFill>
            <a:blip r:embed="rId10" cstate="screen"/>
            <a:srcRect/>
            <a:stretch>
              <a:fillRect/>
            </a:stretch>
          </p:blipFill>
          <p:spPr bwMode="auto">
            <a:xfrm>
              <a:off x="7617296" y="3811334"/>
              <a:ext cx="1512168" cy="1035533"/>
            </a:xfrm>
            <a:prstGeom prst="rect">
              <a:avLst/>
            </a:prstGeom>
            <a:noFill/>
          </p:spPr>
        </p:pic>
      </p:grpSp>
      <p:sp>
        <p:nvSpPr>
          <p:cNvPr id="59394" name="AutoShape 2" descr="Viber Archives • iL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9397" name="AutoShape 5" descr="ΜTorrent 2.2 icon.svg"/>
          <p:cNvSpPr>
            <a:spLocks noChangeAspect="1" noChangeArrowheads="1"/>
          </p:cNvSpPr>
          <p:nvPr/>
        </p:nvSpPr>
        <p:spPr bwMode="auto">
          <a:xfrm>
            <a:off x="155575" y="-2506663"/>
            <a:ext cx="5229225" cy="52292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4" name="Групувати 33"/>
          <p:cNvGrpSpPr/>
          <p:nvPr/>
        </p:nvGrpSpPr>
        <p:grpSpPr>
          <a:xfrm>
            <a:off x="3524240" y="5607859"/>
            <a:ext cx="5400594" cy="900000"/>
            <a:chOff x="3524240" y="5607859"/>
            <a:chExt cx="5400594" cy="900000"/>
          </a:xfrm>
        </p:grpSpPr>
        <p:pic>
          <p:nvPicPr>
            <p:cNvPr id="26" name="Рисунок 25" descr="Apps-google-chrome-icon.png"/>
            <p:cNvPicPr>
              <a:picLocks noChangeAspect="1"/>
            </p:cNvPicPr>
            <p:nvPr/>
          </p:nvPicPr>
          <p:blipFill>
            <a:blip r:embed="rId11" cstate="screen"/>
            <a:stretch>
              <a:fillRect/>
            </a:stretch>
          </p:blipFill>
          <p:spPr>
            <a:xfrm>
              <a:off x="5024438" y="5607859"/>
              <a:ext cx="900000" cy="900000"/>
            </a:xfrm>
            <a:prstGeom prst="rect">
              <a:avLst/>
            </a:prstGeom>
          </p:spPr>
        </p:pic>
        <p:pic>
          <p:nvPicPr>
            <p:cNvPr id="31" name="Рисунок 30" descr="Viber-App-Logo.png"/>
            <p:cNvPicPr>
              <a:picLocks noChangeAspect="1"/>
            </p:cNvPicPr>
            <p:nvPr/>
          </p:nvPicPr>
          <p:blipFill>
            <a:blip r:embed="rId12" cstate="screen"/>
            <a:stretch>
              <a:fillRect/>
            </a:stretch>
          </p:blipFill>
          <p:spPr>
            <a:xfrm>
              <a:off x="3524240" y="5607859"/>
              <a:ext cx="900000" cy="900000"/>
            </a:xfrm>
            <a:prstGeom prst="rect">
              <a:avLst/>
            </a:prstGeom>
          </p:spPr>
        </p:pic>
        <p:pic>
          <p:nvPicPr>
            <p:cNvPr id="32" name="Рисунок 31" descr="UTorrent_(logo).png"/>
            <p:cNvPicPr>
              <a:picLocks noChangeAspect="1"/>
            </p:cNvPicPr>
            <p:nvPr/>
          </p:nvPicPr>
          <p:blipFill>
            <a:blip r:embed="rId13" cstate="screen"/>
            <a:stretch>
              <a:fillRect/>
            </a:stretch>
          </p:blipFill>
          <p:spPr>
            <a:xfrm>
              <a:off x="6524636" y="5607859"/>
              <a:ext cx="900000" cy="900000"/>
            </a:xfrm>
            <a:prstGeom prst="rect">
              <a:avLst/>
            </a:prstGeom>
          </p:spPr>
        </p:pic>
        <p:pic>
          <p:nvPicPr>
            <p:cNvPr id="33" name="Рисунок 32" descr="Zoom-Logo.jpg"/>
            <p:cNvPicPr>
              <a:picLocks noChangeAspect="1"/>
            </p:cNvPicPr>
            <p:nvPr/>
          </p:nvPicPr>
          <p:blipFill>
            <a:blip r:embed="rId14" cstate="screen"/>
            <a:stretch>
              <a:fillRect/>
            </a:stretch>
          </p:blipFill>
          <p:spPr>
            <a:xfrm>
              <a:off x="8024834" y="5607859"/>
              <a:ext cx="900000" cy="900000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Мережа буває</a:t>
            </a:r>
            <a:endParaRPr lang="ru-RU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850031" y="1428736"/>
            <a:ext cx="2250297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uk-UA" sz="1400" dirty="0" smtClean="0">
                <a:solidFill>
                  <a:srgbClr val="0000FF"/>
                </a:solidFill>
              </a:rPr>
              <a:t>Інтернет</a:t>
            </a:r>
            <a:endParaRPr lang="uk-UA" sz="1400" dirty="0">
              <a:solidFill>
                <a:srgbClr val="0000FF"/>
              </a:solidFill>
            </a:endParaRPr>
          </a:p>
        </p:txBody>
      </p:sp>
      <p:sp>
        <p:nvSpPr>
          <p:cNvPr id="57346" name="AutoShape 2" descr="Проект з навчальної інформатичної практики &quot;Мій кабінет інформатики&quot;, група  №44, Башлик Ірина Володимирівна — Вікі ЦДПУ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1" name="Рисунок 10" descr="Класеанеанене1235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309529" y="4214819"/>
            <a:ext cx="3456000" cy="2349245"/>
          </a:xfrm>
          <a:prstGeom prst="rect">
            <a:avLst/>
          </a:prstGeom>
        </p:spPr>
      </p:pic>
      <p:pic>
        <p:nvPicPr>
          <p:cNvPr id="15" name="Рисунок 14" descr="Ris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30" y="1571612"/>
            <a:ext cx="3456000" cy="2308608"/>
          </a:xfrm>
          <a:prstGeom prst="rect">
            <a:avLst/>
          </a:prstGeom>
        </p:spPr>
      </p:pic>
      <p:pic>
        <p:nvPicPr>
          <p:cNvPr id="16" name="Рисунок 15" descr="218132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680" y="2285993"/>
            <a:ext cx="5432999" cy="3429024"/>
          </a:xfrm>
          <a:prstGeom prst="rect">
            <a:avLst/>
          </a:prstGeom>
        </p:spPr>
      </p:pic>
      <p:sp>
        <p:nvSpPr>
          <p:cNvPr id="17" name="Прямокутник 16"/>
          <p:cNvSpPr/>
          <p:nvPr/>
        </p:nvSpPr>
        <p:spPr>
          <a:xfrm>
            <a:off x="452406" y="714356"/>
            <a:ext cx="30718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uk-UA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9933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</a:rPr>
              <a:t>локальна</a:t>
            </a:r>
            <a:endParaRPr lang="uk-UA" sz="4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339933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</a:endParaRPr>
          </a:p>
        </p:txBody>
      </p:sp>
      <p:sp>
        <p:nvSpPr>
          <p:cNvPr id="18" name="Прямокутник 17"/>
          <p:cNvSpPr/>
          <p:nvPr/>
        </p:nvSpPr>
        <p:spPr>
          <a:xfrm>
            <a:off x="5439262" y="714356"/>
            <a:ext cx="30718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uk-UA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</a:rPr>
              <a:t>глобальна</a:t>
            </a:r>
            <a:endParaRPr lang="uk-UA" sz="4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Групувати 27"/>
          <p:cNvGrpSpPr/>
          <p:nvPr/>
        </p:nvGrpSpPr>
        <p:grpSpPr>
          <a:xfrm>
            <a:off x="851218" y="1327657"/>
            <a:ext cx="3742312" cy="2453507"/>
            <a:chOff x="922656" y="1556792"/>
            <a:chExt cx="3742312" cy="2453507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Line 13"/>
            <p:cNvSpPr>
              <a:spLocks noChangeShapeType="1"/>
            </p:cNvSpPr>
            <p:nvPr/>
          </p:nvSpPr>
          <p:spPr bwMode="auto">
            <a:xfrm flipH="1">
              <a:off x="3381364" y="1772816"/>
              <a:ext cx="779548" cy="9936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37" name="Групувати 36"/>
          <p:cNvGrpSpPr/>
          <p:nvPr/>
        </p:nvGrpSpPr>
        <p:grpSpPr>
          <a:xfrm rot="21152098" flipH="1">
            <a:off x="523844" y="3985683"/>
            <a:ext cx="3742312" cy="2453507"/>
            <a:chOff x="922656" y="1556792"/>
            <a:chExt cx="3742312" cy="2453507"/>
          </a:xfrm>
        </p:grpSpPr>
        <p:pic>
          <p:nvPicPr>
            <p:cNvPr id="38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Line 13"/>
            <p:cNvSpPr>
              <a:spLocks noChangeShapeType="1"/>
            </p:cNvSpPr>
            <p:nvPr/>
          </p:nvSpPr>
          <p:spPr bwMode="auto">
            <a:xfrm flipH="1">
              <a:off x="3379084" y="1772815"/>
              <a:ext cx="781828" cy="15598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31" name="Групувати 30"/>
          <p:cNvGrpSpPr/>
          <p:nvPr/>
        </p:nvGrpSpPr>
        <p:grpSpPr>
          <a:xfrm>
            <a:off x="5810256" y="985287"/>
            <a:ext cx="3742312" cy="2453507"/>
            <a:chOff x="922656" y="1556792"/>
            <a:chExt cx="3742312" cy="2453507"/>
          </a:xfrm>
        </p:grpSpPr>
        <p:pic>
          <p:nvPicPr>
            <p:cNvPr id="33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>
              <a:off x="3351548" y="1772815"/>
              <a:ext cx="809364" cy="15598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Спільне використання </a:t>
            </a:r>
            <a:r>
              <a:rPr lang="uk-UA" dirty="0" smtClean="0">
                <a:solidFill>
                  <a:srgbClr val="FF0000"/>
                </a:solidFill>
                <a:latin typeface="Calibri" pitchFamily="34" charset="0"/>
              </a:rPr>
              <a:t>Інтернету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097586" y="4856049"/>
            <a:ext cx="104492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2452670" y="2771237"/>
            <a:ext cx="3373595" cy="215625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6115190" y="2407777"/>
            <a:ext cx="1142636" cy="259115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6115190" y="5070370"/>
            <a:ext cx="1838206" cy="287456"/>
          </a:xfrm>
          <a:prstGeom prst="line">
            <a:avLst/>
          </a:prstGeom>
          <a:ln w="76200">
            <a:solidFill>
              <a:srgbClr val="FF0000"/>
            </a:solidFill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53396" y="4643446"/>
            <a:ext cx="14398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3024174" y="5072074"/>
            <a:ext cx="2847624" cy="19949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pic>
        <p:nvPicPr>
          <p:cNvPr id="14338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61082" y="967617"/>
            <a:ext cx="579128" cy="604867"/>
          </a:xfrm>
          <a:prstGeom prst="rect">
            <a:avLst/>
          </a:prstGeom>
          <a:noFill/>
        </p:spPr>
      </p:pic>
      <p:pic>
        <p:nvPicPr>
          <p:cNvPr id="26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6393730" y="5720145"/>
            <a:ext cx="579128" cy="604867"/>
          </a:xfrm>
          <a:prstGeom prst="rect">
            <a:avLst/>
          </a:prstGeom>
          <a:noFill/>
        </p:spPr>
      </p:pic>
      <p:pic>
        <p:nvPicPr>
          <p:cNvPr id="27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4377506" y="3343881"/>
            <a:ext cx="579128" cy="604867"/>
          </a:xfrm>
          <a:prstGeom prst="rect">
            <a:avLst/>
          </a:prstGeom>
          <a:noFill/>
        </p:spPr>
      </p:pic>
      <p:cxnSp>
        <p:nvCxnSpPr>
          <p:cNvPr id="29" name="Пряма сполучна лінія 28"/>
          <p:cNvCxnSpPr/>
          <p:nvPr/>
        </p:nvCxnSpPr>
        <p:spPr>
          <a:xfrm>
            <a:off x="4810124" y="3857628"/>
            <a:ext cx="1143008" cy="1000132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/>
          <p:cNvCxnSpPr>
            <a:stCxn id="11" idx="0"/>
            <a:endCxn id="27" idx="1"/>
          </p:cNvCxnSpPr>
          <p:nvPr/>
        </p:nvCxnSpPr>
        <p:spPr>
          <a:xfrm rot="16200000" flipH="1">
            <a:off x="2977549" y="2246358"/>
            <a:ext cx="875078" cy="1924836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 сполучна лінія 31"/>
          <p:cNvCxnSpPr/>
          <p:nvPr/>
        </p:nvCxnSpPr>
        <p:spPr>
          <a:xfrm rot="16200000" flipH="1">
            <a:off x="5953135" y="5286388"/>
            <a:ext cx="714377" cy="428627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 сполучна лінія 33"/>
          <p:cNvCxnSpPr/>
          <p:nvPr/>
        </p:nvCxnSpPr>
        <p:spPr>
          <a:xfrm rot="16200000" flipH="1">
            <a:off x="1131070" y="1464455"/>
            <a:ext cx="1000129" cy="928693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увати 27"/>
          <p:cNvGrpSpPr/>
          <p:nvPr/>
        </p:nvGrpSpPr>
        <p:grpSpPr>
          <a:xfrm>
            <a:off x="851218" y="1327657"/>
            <a:ext cx="3742312" cy="2453507"/>
            <a:chOff x="922656" y="1556792"/>
            <a:chExt cx="3742312" cy="2453507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Line 13"/>
            <p:cNvSpPr>
              <a:spLocks noChangeShapeType="1"/>
            </p:cNvSpPr>
            <p:nvPr/>
          </p:nvSpPr>
          <p:spPr bwMode="auto">
            <a:xfrm flipH="1">
              <a:off x="3381364" y="1772816"/>
              <a:ext cx="779548" cy="9936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3" name="Групувати 36"/>
          <p:cNvGrpSpPr/>
          <p:nvPr/>
        </p:nvGrpSpPr>
        <p:grpSpPr>
          <a:xfrm rot="21152098" flipH="1">
            <a:off x="523844" y="3985683"/>
            <a:ext cx="3742312" cy="2453507"/>
            <a:chOff x="922656" y="1556792"/>
            <a:chExt cx="3742312" cy="2453507"/>
          </a:xfrm>
        </p:grpSpPr>
        <p:pic>
          <p:nvPicPr>
            <p:cNvPr id="38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Line 13"/>
            <p:cNvSpPr>
              <a:spLocks noChangeShapeType="1"/>
            </p:cNvSpPr>
            <p:nvPr/>
          </p:nvSpPr>
          <p:spPr bwMode="auto">
            <a:xfrm flipH="1">
              <a:off x="3379084" y="1772815"/>
              <a:ext cx="781828" cy="15598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4" name="Групувати 30"/>
          <p:cNvGrpSpPr/>
          <p:nvPr/>
        </p:nvGrpSpPr>
        <p:grpSpPr>
          <a:xfrm>
            <a:off x="5810256" y="985287"/>
            <a:ext cx="3742312" cy="2453507"/>
            <a:chOff x="922656" y="1556792"/>
            <a:chExt cx="3742312" cy="2453507"/>
          </a:xfrm>
        </p:grpSpPr>
        <p:pic>
          <p:nvPicPr>
            <p:cNvPr id="33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>
              <a:off x="3351548" y="1772815"/>
              <a:ext cx="809364" cy="15598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Спільне використання </a:t>
            </a:r>
            <a:r>
              <a:rPr lang="uk-UA" dirty="0" smtClean="0">
                <a:solidFill>
                  <a:srgbClr val="FF0000"/>
                </a:solidFill>
                <a:latin typeface="Calibri" pitchFamily="34" charset="0"/>
              </a:rPr>
              <a:t>принтерів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097586" y="4856049"/>
            <a:ext cx="104492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2452670" y="2771237"/>
            <a:ext cx="3373595" cy="215625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6115190" y="2407777"/>
            <a:ext cx="1142636" cy="259115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6167446" y="5072074"/>
            <a:ext cx="1838206" cy="287456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53396" y="4643446"/>
            <a:ext cx="14398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3024174" y="5072074"/>
            <a:ext cx="2847624" cy="19949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pic>
        <p:nvPicPr>
          <p:cNvPr id="14338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61082" y="967617"/>
            <a:ext cx="579128" cy="604867"/>
          </a:xfrm>
          <a:prstGeom prst="rect">
            <a:avLst/>
          </a:prstGeom>
          <a:noFill/>
        </p:spPr>
      </p:pic>
      <p:pic>
        <p:nvPicPr>
          <p:cNvPr id="26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6393730" y="5720145"/>
            <a:ext cx="579128" cy="604867"/>
          </a:xfrm>
          <a:prstGeom prst="rect">
            <a:avLst/>
          </a:prstGeom>
          <a:noFill/>
        </p:spPr>
      </p:pic>
      <p:pic>
        <p:nvPicPr>
          <p:cNvPr id="27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4377506" y="3343881"/>
            <a:ext cx="579128" cy="604867"/>
          </a:xfrm>
          <a:prstGeom prst="rect">
            <a:avLst/>
          </a:prstGeom>
          <a:noFill/>
        </p:spPr>
      </p:pic>
      <p:cxnSp>
        <p:nvCxnSpPr>
          <p:cNvPr id="29" name="Пряма сполучна лінія 28"/>
          <p:cNvCxnSpPr/>
          <p:nvPr/>
        </p:nvCxnSpPr>
        <p:spPr>
          <a:xfrm>
            <a:off x="4810124" y="3857628"/>
            <a:ext cx="1143008" cy="1000132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/>
          <p:cNvCxnSpPr>
            <a:stCxn id="11" idx="0"/>
            <a:endCxn id="27" idx="1"/>
          </p:cNvCxnSpPr>
          <p:nvPr/>
        </p:nvCxnSpPr>
        <p:spPr>
          <a:xfrm rot="16200000" flipH="1">
            <a:off x="2977549" y="2246358"/>
            <a:ext cx="875078" cy="1924836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 сполучна лінія 31"/>
          <p:cNvCxnSpPr/>
          <p:nvPr/>
        </p:nvCxnSpPr>
        <p:spPr>
          <a:xfrm rot="16200000" flipH="1">
            <a:off x="5953135" y="5286388"/>
            <a:ext cx="714377" cy="428627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 сполучна лінія 33"/>
          <p:cNvCxnSpPr/>
          <p:nvPr/>
        </p:nvCxnSpPr>
        <p:spPr>
          <a:xfrm rot="16200000" flipH="1">
            <a:off x="1131070" y="1464455"/>
            <a:ext cx="1000129" cy="928693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8667776" y="857232"/>
            <a:ext cx="108012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Овал 30"/>
          <p:cNvSpPr/>
          <p:nvPr/>
        </p:nvSpPr>
        <p:spPr>
          <a:xfrm>
            <a:off x="3809992" y="1285860"/>
            <a:ext cx="108012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7" name="Овал 36"/>
          <p:cNvSpPr/>
          <p:nvPr/>
        </p:nvSpPr>
        <p:spPr>
          <a:xfrm>
            <a:off x="166654" y="4143380"/>
            <a:ext cx="108012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увати 27"/>
          <p:cNvGrpSpPr/>
          <p:nvPr/>
        </p:nvGrpSpPr>
        <p:grpSpPr>
          <a:xfrm>
            <a:off x="851218" y="1327657"/>
            <a:ext cx="3742312" cy="2453507"/>
            <a:chOff x="922656" y="1556792"/>
            <a:chExt cx="3742312" cy="2453507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Line 13"/>
            <p:cNvSpPr>
              <a:spLocks noChangeShapeType="1"/>
            </p:cNvSpPr>
            <p:nvPr/>
          </p:nvSpPr>
          <p:spPr bwMode="auto">
            <a:xfrm flipH="1">
              <a:off x="3381364" y="1772816"/>
              <a:ext cx="779548" cy="9936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3" name="Групувати 36"/>
          <p:cNvGrpSpPr/>
          <p:nvPr/>
        </p:nvGrpSpPr>
        <p:grpSpPr>
          <a:xfrm rot="21152098" flipH="1">
            <a:off x="523844" y="3985683"/>
            <a:ext cx="3742312" cy="2453507"/>
            <a:chOff x="922656" y="1556792"/>
            <a:chExt cx="3742312" cy="2453507"/>
          </a:xfrm>
        </p:grpSpPr>
        <p:pic>
          <p:nvPicPr>
            <p:cNvPr id="38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Line 13"/>
            <p:cNvSpPr>
              <a:spLocks noChangeShapeType="1"/>
            </p:cNvSpPr>
            <p:nvPr/>
          </p:nvSpPr>
          <p:spPr bwMode="auto">
            <a:xfrm flipH="1">
              <a:off x="3379084" y="1772815"/>
              <a:ext cx="781828" cy="15598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4" name="Групувати 30"/>
          <p:cNvGrpSpPr/>
          <p:nvPr/>
        </p:nvGrpSpPr>
        <p:grpSpPr>
          <a:xfrm>
            <a:off x="5810256" y="985287"/>
            <a:ext cx="3742312" cy="2453507"/>
            <a:chOff x="922656" y="1556792"/>
            <a:chExt cx="3742312" cy="2453507"/>
          </a:xfrm>
        </p:grpSpPr>
        <p:pic>
          <p:nvPicPr>
            <p:cNvPr id="33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 rot="20288567">
              <a:off x="922656" y="1717949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31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088904" y="1556792"/>
              <a:ext cx="576064" cy="574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>
              <a:off x="3351548" y="1772815"/>
              <a:ext cx="809364" cy="15598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Обмін файлами, онлайн</a:t>
            </a:r>
            <a:r>
              <a:rPr lang="en-US" dirty="0" smtClean="0">
                <a:latin typeface="Calibri" pitchFamily="34" charset="0"/>
              </a:rPr>
              <a:t>-</a:t>
            </a:r>
            <a:r>
              <a:rPr lang="uk-UA" dirty="0" smtClean="0">
                <a:latin typeface="Calibri" pitchFamily="34" charset="0"/>
              </a:rPr>
              <a:t>спілкування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097586" y="4856049"/>
            <a:ext cx="1044924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2452670" y="2771237"/>
            <a:ext cx="3373595" cy="215625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6115190" y="2407777"/>
            <a:ext cx="1142636" cy="259115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6167446" y="5072074"/>
            <a:ext cx="1838206" cy="287456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53396" y="4643446"/>
            <a:ext cx="14398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3024174" y="5072074"/>
            <a:ext cx="2847624" cy="19949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uk-UA"/>
          </a:p>
        </p:txBody>
      </p:sp>
      <p:pic>
        <p:nvPicPr>
          <p:cNvPr id="14338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61082" y="967617"/>
            <a:ext cx="579128" cy="604867"/>
          </a:xfrm>
          <a:prstGeom prst="rect">
            <a:avLst/>
          </a:prstGeom>
          <a:noFill/>
        </p:spPr>
      </p:pic>
      <p:pic>
        <p:nvPicPr>
          <p:cNvPr id="26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6393730" y="5720145"/>
            <a:ext cx="579128" cy="604867"/>
          </a:xfrm>
          <a:prstGeom prst="rect">
            <a:avLst/>
          </a:prstGeom>
          <a:noFill/>
        </p:spPr>
      </p:pic>
      <p:pic>
        <p:nvPicPr>
          <p:cNvPr id="27" name="Picture 2" descr="http://citforum.ck.ua/hardware/notebook/notebook_choice/79986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4377506" y="3343881"/>
            <a:ext cx="579128" cy="604867"/>
          </a:xfrm>
          <a:prstGeom prst="rect">
            <a:avLst/>
          </a:prstGeom>
          <a:noFill/>
        </p:spPr>
      </p:pic>
      <p:cxnSp>
        <p:nvCxnSpPr>
          <p:cNvPr id="29" name="Пряма сполучна лінія 28"/>
          <p:cNvCxnSpPr/>
          <p:nvPr/>
        </p:nvCxnSpPr>
        <p:spPr>
          <a:xfrm>
            <a:off x="4810124" y="3857628"/>
            <a:ext cx="1143008" cy="1000132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/>
          <p:cNvCxnSpPr>
            <a:stCxn id="11" idx="0"/>
            <a:endCxn id="27" idx="1"/>
          </p:cNvCxnSpPr>
          <p:nvPr/>
        </p:nvCxnSpPr>
        <p:spPr>
          <a:xfrm rot="16200000" flipH="1">
            <a:off x="2977549" y="2246358"/>
            <a:ext cx="875078" cy="1924836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 сполучна лінія 31"/>
          <p:cNvCxnSpPr/>
          <p:nvPr/>
        </p:nvCxnSpPr>
        <p:spPr>
          <a:xfrm rot="16200000" flipH="1">
            <a:off x="5953135" y="5286388"/>
            <a:ext cx="714377" cy="428627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 сполучна лінія 33"/>
          <p:cNvCxnSpPr/>
          <p:nvPr/>
        </p:nvCxnSpPr>
        <p:spPr>
          <a:xfrm rot="16200000" flipH="1">
            <a:off x="1131070" y="1464455"/>
            <a:ext cx="1000129" cy="928693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Рисунок 24" descr="цук.ico"/>
          <p:cNvPicPr>
            <a:picLocks noChangeAspect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8239148" y="2357430"/>
            <a:ext cx="357190" cy="357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Рисунок 24" descr="цук.ico"/>
          <p:cNvPicPr>
            <a:picLocks noChangeAspect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4667248" y="3571876"/>
            <a:ext cx="357190" cy="357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Рисунок 24" descr="цук.ico"/>
          <p:cNvPicPr>
            <a:picLocks noChangeAspect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2881298" y="1500174"/>
            <a:ext cx="357190" cy="357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Полілінія 48"/>
          <p:cNvSpPr/>
          <p:nvPr/>
        </p:nvSpPr>
        <p:spPr>
          <a:xfrm>
            <a:off x="2429523" y="1856096"/>
            <a:ext cx="1992352" cy="1807417"/>
          </a:xfrm>
          <a:custGeom>
            <a:avLst/>
            <a:gdLst>
              <a:gd name="connsiteX0" fmla="*/ 559337 w 1992352"/>
              <a:gd name="connsiteY0" fmla="*/ 0 h 1807417"/>
              <a:gd name="connsiteX1" fmla="*/ 545689 w 1992352"/>
              <a:gd name="connsiteY1" fmla="*/ 40943 h 1807417"/>
              <a:gd name="connsiteX2" fmla="*/ 450155 w 1992352"/>
              <a:gd name="connsiteY2" fmla="*/ 109182 h 1807417"/>
              <a:gd name="connsiteX3" fmla="*/ 395564 w 1992352"/>
              <a:gd name="connsiteY3" fmla="*/ 191068 h 1807417"/>
              <a:gd name="connsiteX4" fmla="*/ 313677 w 1992352"/>
              <a:gd name="connsiteY4" fmla="*/ 272955 h 1807417"/>
              <a:gd name="connsiteX5" fmla="*/ 259086 w 1992352"/>
              <a:gd name="connsiteY5" fmla="*/ 327546 h 1807417"/>
              <a:gd name="connsiteX6" fmla="*/ 177199 w 1992352"/>
              <a:gd name="connsiteY6" fmla="*/ 409432 h 1807417"/>
              <a:gd name="connsiteX7" fmla="*/ 108961 w 1992352"/>
              <a:gd name="connsiteY7" fmla="*/ 491319 h 1807417"/>
              <a:gd name="connsiteX8" fmla="*/ 54370 w 1992352"/>
              <a:gd name="connsiteY8" fmla="*/ 573205 h 1807417"/>
              <a:gd name="connsiteX9" fmla="*/ 27074 w 1992352"/>
              <a:gd name="connsiteY9" fmla="*/ 614149 h 1807417"/>
              <a:gd name="connsiteX10" fmla="*/ 27074 w 1992352"/>
              <a:gd name="connsiteY10" fmla="*/ 764274 h 1807417"/>
              <a:gd name="connsiteX11" fmla="*/ 108961 w 1992352"/>
              <a:gd name="connsiteY11" fmla="*/ 805217 h 1807417"/>
              <a:gd name="connsiteX12" fmla="*/ 149904 w 1992352"/>
              <a:gd name="connsiteY12" fmla="*/ 832513 h 1807417"/>
              <a:gd name="connsiteX13" fmla="*/ 177199 w 1992352"/>
              <a:gd name="connsiteY13" fmla="*/ 873456 h 1807417"/>
              <a:gd name="connsiteX14" fmla="*/ 218143 w 1992352"/>
              <a:gd name="connsiteY14" fmla="*/ 914400 h 1807417"/>
              <a:gd name="connsiteX15" fmla="*/ 231790 w 1992352"/>
              <a:gd name="connsiteY15" fmla="*/ 955343 h 1807417"/>
              <a:gd name="connsiteX16" fmla="*/ 354620 w 1992352"/>
              <a:gd name="connsiteY16" fmla="*/ 1064525 h 1807417"/>
              <a:gd name="connsiteX17" fmla="*/ 395564 w 1992352"/>
              <a:gd name="connsiteY17" fmla="*/ 1078173 h 1807417"/>
              <a:gd name="connsiteX18" fmla="*/ 518393 w 1992352"/>
              <a:gd name="connsiteY18" fmla="*/ 1146411 h 1807417"/>
              <a:gd name="connsiteX19" fmla="*/ 641223 w 1992352"/>
              <a:gd name="connsiteY19" fmla="*/ 1228298 h 1807417"/>
              <a:gd name="connsiteX20" fmla="*/ 682167 w 1992352"/>
              <a:gd name="connsiteY20" fmla="*/ 1255594 h 1807417"/>
              <a:gd name="connsiteX21" fmla="*/ 764053 w 1992352"/>
              <a:gd name="connsiteY21" fmla="*/ 1269241 h 1807417"/>
              <a:gd name="connsiteX22" fmla="*/ 804996 w 1992352"/>
              <a:gd name="connsiteY22" fmla="*/ 1282889 h 1807417"/>
              <a:gd name="connsiteX23" fmla="*/ 900531 w 1992352"/>
              <a:gd name="connsiteY23" fmla="*/ 1351128 h 1807417"/>
              <a:gd name="connsiteX24" fmla="*/ 941474 w 1992352"/>
              <a:gd name="connsiteY24" fmla="*/ 1364776 h 1807417"/>
              <a:gd name="connsiteX25" fmla="*/ 1105247 w 1992352"/>
              <a:gd name="connsiteY25" fmla="*/ 1473958 h 1807417"/>
              <a:gd name="connsiteX26" fmla="*/ 1146190 w 1992352"/>
              <a:gd name="connsiteY26" fmla="*/ 1487605 h 1807417"/>
              <a:gd name="connsiteX27" fmla="*/ 1187134 w 1992352"/>
              <a:gd name="connsiteY27" fmla="*/ 1514901 h 1807417"/>
              <a:gd name="connsiteX28" fmla="*/ 1309964 w 1992352"/>
              <a:gd name="connsiteY28" fmla="*/ 1555844 h 1807417"/>
              <a:gd name="connsiteX29" fmla="*/ 1419146 w 1992352"/>
              <a:gd name="connsiteY29" fmla="*/ 1596788 h 1807417"/>
              <a:gd name="connsiteX30" fmla="*/ 1501032 w 1992352"/>
              <a:gd name="connsiteY30" fmla="*/ 1610435 h 1807417"/>
              <a:gd name="connsiteX31" fmla="*/ 1555623 w 1992352"/>
              <a:gd name="connsiteY31" fmla="*/ 1624083 h 1807417"/>
              <a:gd name="connsiteX32" fmla="*/ 1596567 w 1992352"/>
              <a:gd name="connsiteY32" fmla="*/ 1665026 h 1807417"/>
              <a:gd name="connsiteX33" fmla="*/ 1651158 w 1992352"/>
              <a:gd name="connsiteY33" fmla="*/ 1678674 h 1807417"/>
              <a:gd name="connsiteX34" fmla="*/ 1692101 w 1992352"/>
              <a:gd name="connsiteY34" fmla="*/ 1692322 h 1807417"/>
              <a:gd name="connsiteX35" fmla="*/ 1733044 w 1992352"/>
              <a:gd name="connsiteY35" fmla="*/ 1719617 h 1807417"/>
              <a:gd name="connsiteX36" fmla="*/ 1842226 w 1992352"/>
              <a:gd name="connsiteY36" fmla="*/ 1746913 h 1807417"/>
              <a:gd name="connsiteX37" fmla="*/ 1883170 w 1992352"/>
              <a:gd name="connsiteY37" fmla="*/ 1760561 h 1807417"/>
              <a:gd name="connsiteX38" fmla="*/ 1992352 w 1992352"/>
              <a:gd name="connsiteY38" fmla="*/ 1801504 h 1807417"/>
              <a:gd name="connsiteX39" fmla="*/ 1951408 w 1992352"/>
              <a:gd name="connsiteY39" fmla="*/ 1774208 h 18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92352" h="1807417">
                <a:moveTo>
                  <a:pt x="559337" y="0"/>
                </a:moveTo>
                <a:cubicBezTo>
                  <a:pt x="554788" y="13648"/>
                  <a:pt x="554899" y="29891"/>
                  <a:pt x="545689" y="40943"/>
                </a:cubicBezTo>
                <a:cubicBezTo>
                  <a:pt x="535111" y="53637"/>
                  <a:pt x="468823" y="96736"/>
                  <a:pt x="450155" y="109182"/>
                </a:cubicBezTo>
                <a:cubicBezTo>
                  <a:pt x="431958" y="136477"/>
                  <a:pt x="418761" y="167871"/>
                  <a:pt x="395564" y="191068"/>
                </a:cubicBezTo>
                <a:lnTo>
                  <a:pt x="313677" y="272955"/>
                </a:lnTo>
                <a:cubicBezTo>
                  <a:pt x="295480" y="291152"/>
                  <a:pt x="274527" y="306958"/>
                  <a:pt x="259086" y="327546"/>
                </a:cubicBezTo>
                <a:cubicBezTo>
                  <a:pt x="208301" y="395259"/>
                  <a:pt x="237069" y="369520"/>
                  <a:pt x="177199" y="409432"/>
                </a:cubicBezTo>
                <a:cubicBezTo>
                  <a:pt x="79679" y="555717"/>
                  <a:pt x="231537" y="333722"/>
                  <a:pt x="108961" y="491319"/>
                </a:cubicBezTo>
                <a:cubicBezTo>
                  <a:pt x="88821" y="517214"/>
                  <a:pt x="72567" y="545910"/>
                  <a:pt x="54370" y="573205"/>
                </a:cubicBezTo>
                <a:lnTo>
                  <a:pt x="27074" y="614149"/>
                </a:lnTo>
                <a:cubicBezTo>
                  <a:pt x="19155" y="661664"/>
                  <a:pt x="0" y="716894"/>
                  <a:pt x="27074" y="764274"/>
                </a:cubicBezTo>
                <a:cubicBezTo>
                  <a:pt x="39525" y="786064"/>
                  <a:pt x="87944" y="798212"/>
                  <a:pt x="108961" y="805217"/>
                </a:cubicBezTo>
                <a:cubicBezTo>
                  <a:pt x="122609" y="814316"/>
                  <a:pt x="138306" y="820915"/>
                  <a:pt x="149904" y="832513"/>
                </a:cubicBezTo>
                <a:cubicBezTo>
                  <a:pt x="161502" y="844111"/>
                  <a:pt x="166698" y="860855"/>
                  <a:pt x="177199" y="873456"/>
                </a:cubicBezTo>
                <a:cubicBezTo>
                  <a:pt x="189555" y="888284"/>
                  <a:pt x="204495" y="900752"/>
                  <a:pt x="218143" y="914400"/>
                </a:cubicBezTo>
                <a:cubicBezTo>
                  <a:pt x="222692" y="928048"/>
                  <a:pt x="222958" y="943988"/>
                  <a:pt x="231790" y="955343"/>
                </a:cubicBezTo>
                <a:cubicBezTo>
                  <a:pt x="254804" y="984933"/>
                  <a:pt x="311503" y="1042966"/>
                  <a:pt x="354620" y="1064525"/>
                </a:cubicBezTo>
                <a:cubicBezTo>
                  <a:pt x="367487" y="1070959"/>
                  <a:pt x="382988" y="1071186"/>
                  <a:pt x="395564" y="1078173"/>
                </a:cubicBezTo>
                <a:cubicBezTo>
                  <a:pt x="536345" y="1156385"/>
                  <a:pt x="425750" y="1115532"/>
                  <a:pt x="518393" y="1146411"/>
                </a:cubicBezTo>
                <a:lnTo>
                  <a:pt x="641223" y="1228298"/>
                </a:lnTo>
                <a:cubicBezTo>
                  <a:pt x="654871" y="1237397"/>
                  <a:pt x="665987" y="1252898"/>
                  <a:pt x="682167" y="1255594"/>
                </a:cubicBezTo>
                <a:lnTo>
                  <a:pt x="764053" y="1269241"/>
                </a:lnTo>
                <a:cubicBezTo>
                  <a:pt x="777701" y="1273790"/>
                  <a:pt x="792506" y="1275752"/>
                  <a:pt x="804996" y="1282889"/>
                </a:cubicBezTo>
                <a:cubicBezTo>
                  <a:pt x="848272" y="1307618"/>
                  <a:pt x="858283" y="1330004"/>
                  <a:pt x="900531" y="1351128"/>
                </a:cubicBezTo>
                <a:cubicBezTo>
                  <a:pt x="913398" y="1357562"/>
                  <a:pt x="927826" y="1360227"/>
                  <a:pt x="941474" y="1364776"/>
                </a:cubicBezTo>
                <a:cubicBezTo>
                  <a:pt x="1019579" y="1423355"/>
                  <a:pt x="1031143" y="1442199"/>
                  <a:pt x="1105247" y="1473958"/>
                </a:cubicBezTo>
                <a:cubicBezTo>
                  <a:pt x="1118470" y="1479625"/>
                  <a:pt x="1132542" y="1483056"/>
                  <a:pt x="1146190" y="1487605"/>
                </a:cubicBezTo>
                <a:cubicBezTo>
                  <a:pt x="1159838" y="1496704"/>
                  <a:pt x="1172145" y="1508239"/>
                  <a:pt x="1187134" y="1514901"/>
                </a:cubicBezTo>
                <a:cubicBezTo>
                  <a:pt x="1248659" y="1542246"/>
                  <a:pt x="1258729" y="1535350"/>
                  <a:pt x="1309964" y="1555844"/>
                </a:cubicBezTo>
                <a:cubicBezTo>
                  <a:pt x="1323250" y="1561159"/>
                  <a:pt x="1395075" y="1591439"/>
                  <a:pt x="1419146" y="1596788"/>
                </a:cubicBezTo>
                <a:cubicBezTo>
                  <a:pt x="1446159" y="1602791"/>
                  <a:pt x="1473898" y="1605008"/>
                  <a:pt x="1501032" y="1610435"/>
                </a:cubicBezTo>
                <a:cubicBezTo>
                  <a:pt x="1519425" y="1614114"/>
                  <a:pt x="1537426" y="1619534"/>
                  <a:pt x="1555623" y="1624083"/>
                </a:cubicBezTo>
                <a:cubicBezTo>
                  <a:pt x="1569271" y="1637731"/>
                  <a:pt x="1579809" y="1655450"/>
                  <a:pt x="1596567" y="1665026"/>
                </a:cubicBezTo>
                <a:cubicBezTo>
                  <a:pt x="1612853" y="1674332"/>
                  <a:pt x="1633123" y="1673521"/>
                  <a:pt x="1651158" y="1678674"/>
                </a:cubicBezTo>
                <a:cubicBezTo>
                  <a:pt x="1664990" y="1682626"/>
                  <a:pt x="1679234" y="1685888"/>
                  <a:pt x="1692101" y="1692322"/>
                </a:cubicBezTo>
                <a:cubicBezTo>
                  <a:pt x="1706772" y="1699657"/>
                  <a:pt x="1717629" y="1714012"/>
                  <a:pt x="1733044" y="1719617"/>
                </a:cubicBezTo>
                <a:cubicBezTo>
                  <a:pt x="1768300" y="1732437"/>
                  <a:pt x="1806637" y="1735050"/>
                  <a:pt x="1842226" y="1746913"/>
                </a:cubicBezTo>
                <a:cubicBezTo>
                  <a:pt x="1855874" y="1751462"/>
                  <a:pt x="1870303" y="1754127"/>
                  <a:pt x="1883170" y="1760561"/>
                </a:cubicBezTo>
                <a:cubicBezTo>
                  <a:pt x="1976883" y="1807417"/>
                  <a:pt x="1860695" y="1775172"/>
                  <a:pt x="1992352" y="1801504"/>
                </a:cubicBezTo>
                <a:lnTo>
                  <a:pt x="1951408" y="1774208"/>
                </a:ln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1" name="Полілінія 50"/>
          <p:cNvSpPr/>
          <p:nvPr/>
        </p:nvSpPr>
        <p:spPr>
          <a:xfrm>
            <a:off x="4708478" y="2347415"/>
            <a:ext cx="3472789" cy="2524836"/>
          </a:xfrm>
          <a:custGeom>
            <a:avLst/>
            <a:gdLst>
              <a:gd name="connsiteX0" fmla="*/ 3439235 w 3472789"/>
              <a:gd name="connsiteY0" fmla="*/ 109182 h 2524836"/>
              <a:gd name="connsiteX1" fmla="*/ 3330053 w 3472789"/>
              <a:gd name="connsiteY1" fmla="*/ 68239 h 2524836"/>
              <a:gd name="connsiteX2" fmla="*/ 3207223 w 3472789"/>
              <a:gd name="connsiteY2" fmla="*/ 40943 h 2524836"/>
              <a:gd name="connsiteX3" fmla="*/ 3084394 w 3472789"/>
              <a:gd name="connsiteY3" fmla="*/ 0 h 2524836"/>
              <a:gd name="connsiteX4" fmla="*/ 2934268 w 3472789"/>
              <a:gd name="connsiteY4" fmla="*/ 13648 h 2524836"/>
              <a:gd name="connsiteX5" fmla="*/ 2852382 w 3472789"/>
              <a:gd name="connsiteY5" fmla="*/ 27295 h 2524836"/>
              <a:gd name="connsiteX6" fmla="*/ 2715904 w 3472789"/>
              <a:gd name="connsiteY6" fmla="*/ 40943 h 2524836"/>
              <a:gd name="connsiteX7" fmla="*/ 2674961 w 3472789"/>
              <a:gd name="connsiteY7" fmla="*/ 54591 h 2524836"/>
              <a:gd name="connsiteX8" fmla="*/ 2634018 w 3472789"/>
              <a:gd name="connsiteY8" fmla="*/ 95534 h 2524836"/>
              <a:gd name="connsiteX9" fmla="*/ 2593074 w 3472789"/>
              <a:gd name="connsiteY9" fmla="*/ 122830 h 2524836"/>
              <a:gd name="connsiteX10" fmla="*/ 2538483 w 3472789"/>
              <a:gd name="connsiteY10" fmla="*/ 204716 h 2524836"/>
              <a:gd name="connsiteX11" fmla="*/ 2483892 w 3472789"/>
              <a:gd name="connsiteY11" fmla="*/ 300251 h 2524836"/>
              <a:gd name="connsiteX12" fmla="*/ 2470244 w 3472789"/>
              <a:gd name="connsiteY12" fmla="*/ 354842 h 2524836"/>
              <a:gd name="connsiteX13" fmla="*/ 2456597 w 3472789"/>
              <a:gd name="connsiteY13" fmla="*/ 395785 h 2524836"/>
              <a:gd name="connsiteX14" fmla="*/ 2442949 w 3472789"/>
              <a:gd name="connsiteY14" fmla="*/ 464024 h 2524836"/>
              <a:gd name="connsiteX15" fmla="*/ 2415653 w 3472789"/>
              <a:gd name="connsiteY15" fmla="*/ 504967 h 2524836"/>
              <a:gd name="connsiteX16" fmla="*/ 2374710 w 3472789"/>
              <a:gd name="connsiteY16" fmla="*/ 600501 h 2524836"/>
              <a:gd name="connsiteX17" fmla="*/ 2347415 w 3472789"/>
              <a:gd name="connsiteY17" fmla="*/ 641445 h 2524836"/>
              <a:gd name="connsiteX18" fmla="*/ 2333767 w 3472789"/>
              <a:gd name="connsiteY18" fmla="*/ 682388 h 2524836"/>
              <a:gd name="connsiteX19" fmla="*/ 2251880 w 3472789"/>
              <a:gd name="connsiteY19" fmla="*/ 709684 h 2524836"/>
              <a:gd name="connsiteX20" fmla="*/ 2142698 w 3472789"/>
              <a:gd name="connsiteY20" fmla="*/ 873457 h 2524836"/>
              <a:gd name="connsiteX21" fmla="*/ 2115403 w 3472789"/>
              <a:gd name="connsiteY21" fmla="*/ 914400 h 2524836"/>
              <a:gd name="connsiteX22" fmla="*/ 2074459 w 3472789"/>
              <a:gd name="connsiteY22" fmla="*/ 928048 h 2524836"/>
              <a:gd name="connsiteX23" fmla="*/ 2033516 w 3472789"/>
              <a:gd name="connsiteY23" fmla="*/ 1009934 h 2524836"/>
              <a:gd name="connsiteX24" fmla="*/ 1978925 w 3472789"/>
              <a:gd name="connsiteY24" fmla="*/ 1132764 h 2524836"/>
              <a:gd name="connsiteX25" fmla="*/ 1937982 w 3472789"/>
              <a:gd name="connsiteY25" fmla="*/ 1296537 h 2524836"/>
              <a:gd name="connsiteX26" fmla="*/ 1924334 w 3472789"/>
              <a:gd name="connsiteY26" fmla="*/ 1351128 h 2524836"/>
              <a:gd name="connsiteX27" fmla="*/ 1897038 w 3472789"/>
              <a:gd name="connsiteY27" fmla="*/ 1433015 h 2524836"/>
              <a:gd name="connsiteX28" fmla="*/ 1869743 w 3472789"/>
              <a:gd name="connsiteY28" fmla="*/ 1514901 h 2524836"/>
              <a:gd name="connsiteX29" fmla="*/ 1774209 w 3472789"/>
              <a:gd name="connsiteY29" fmla="*/ 1569492 h 2524836"/>
              <a:gd name="connsiteX30" fmla="*/ 1746913 w 3472789"/>
              <a:gd name="connsiteY30" fmla="*/ 1651379 h 2524836"/>
              <a:gd name="connsiteX31" fmla="*/ 1719618 w 3472789"/>
              <a:gd name="connsiteY31" fmla="*/ 1692322 h 2524836"/>
              <a:gd name="connsiteX32" fmla="*/ 1665026 w 3472789"/>
              <a:gd name="connsiteY32" fmla="*/ 1815152 h 2524836"/>
              <a:gd name="connsiteX33" fmla="*/ 1651379 w 3472789"/>
              <a:gd name="connsiteY33" fmla="*/ 1856095 h 2524836"/>
              <a:gd name="connsiteX34" fmla="*/ 1624083 w 3472789"/>
              <a:gd name="connsiteY34" fmla="*/ 1978925 h 2524836"/>
              <a:gd name="connsiteX35" fmla="*/ 1596788 w 3472789"/>
              <a:gd name="connsiteY35" fmla="*/ 2033516 h 2524836"/>
              <a:gd name="connsiteX36" fmla="*/ 1569492 w 3472789"/>
              <a:gd name="connsiteY36" fmla="*/ 2115403 h 2524836"/>
              <a:gd name="connsiteX37" fmla="*/ 1555844 w 3472789"/>
              <a:gd name="connsiteY37" fmla="*/ 2169994 h 2524836"/>
              <a:gd name="connsiteX38" fmla="*/ 1514901 w 3472789"/>
              <a:gd name="connsiteY38" fmla="*/ 2210937 h 2524836"/>
              <a:gd name="connsiteX39" fmla="*/ 1487606 w 3472789"/>
              <a:gd name="connsiteY39" fmla="*/ 2320119 h 2524836"/>
              <a:gd name="connsiteX40" fmla="*/ 1460310 w 3472789"/>
              <a:gd name="connsiteY40" fmla="*/ 2361063 h 2524836"/>
              <a:gd name="connsiteX41" fmla="*/ 1405719 w 3472789"/>
              <a:gd name="connsiteY41" fmla="*/ 2483892 h 2524836"/>
              <a:gd name="connsiteX42" fmla="*/ 1364776 w 3472789"/>
              <a:gd name="connsiteY42" fmla="*/ 2497540 h 2524836"/>
              <a:gd name="connsiteX43" fmla="*/ 1255594 w 3472789"/>
              <a:gd name="connsiteY43" fmla="*/ 2524836 h 2524836"/>
              <a:gd name="connsiteX44" fmla="*/ 1241946 w 3472789"/>
              <a:gd name="connsiteY44" fmla="*/ 2470245 h 2524836"/>
              <a:gd name="connsiteX45" fmla="*/ 1228298 w 3472789"/>
              <a:gd name="connsiteY45" fmla="*/ 2374710 h 2524836"/>
              <a:gd name="connsiteX46" fmla="*/ 1187355 w 3472789"/>
              <a:gd name="connsiteY46" fmla="*/ 2292824 h 2524836"/>
              <a:gd name="connsiteX47" fmla="*/ 1146412 w 3472789"/>
              <a:gd name="connsiteY47" fmla="*/ 2251881 h 2524836"/>
              <a:gd name="connsiteX48" fmla="*/ 1009934 w 3472789"/>
              <a:gd name="connsiteY48" fmla="*/ 2224585 h 2524836"/>
              <a:gd name="connsiteX49" fmla="*/ 968991 w 3472789"/>
              <a:gd name="connsiteY49" fmla="*/ 2210937 h 2524836"/>
              <a:gd name="connsiteX50" fmla="*/ 887104 w 3472789"/>
              <a:gd name="connsiteY50" fmla="*/ 2115403 h 2524836"/>
              <a:gd name="connsiteX51" fmla="*/ 805218 w 3472789"/>
              <a:gd name="connsiteY51" fmla="*/ 2060812 h 2524836"/>
              <a:gd name="connsiteX52" fmla="*/ 723331 w 3472789"/>
              <a:gd name="connsiteY52" fmla="*/ 2006221 h 2524836"/>
              <a:gd name="connsiteX53" fmla="*/ 682388 w 3472789"/>
              <a:gd name="connsiteY53" fmla="*/ 1978925 h 2524836"/>
              <a:gd name="connsiteX54" fmla="*/ 641444 w 3472789"/>
              <a:gd name="connsiteY54" fmla="*/ 1965278 h 2524836"/>
              <a:gd name="connsiteX55" fmla="*/ 518615 w 3472789"/>
              <a:gd name="connsiteY55" fmla="*/ 1869743 h 2524836"/>
              <a:gd name="connsiteX56" fmla="*/ 395785 w 3472789"/>
              <a:gd name="connsiteY56" fmla="*/ 1774209 h 2524836"/>
              <a:gd name="connsiteX57" fmla="*/ 354841 w 3472789"/>
              <a:gd name="connsiteY57" fmla="*/ 1746913 h 2524836"/>
              <a:gd name="connsiteX58" fmla="*/ 327546 w 3472789"/>
              <a:gd name="connsiteY58" fmla="*/ 1705970 h 2524836"/>
              <a:gd name="connsiteX59" fmla="*/ 286603 w 3472789"/>
              <a:gd name="connsiteY59" fmla="*/ 1692322 h 2524836"/>
              <a:gd name="connsiteX60" fmla="*/ 245659 w 3472789"/>
              <a:gd name="connsiteY60" fmla="*/ 1665027 h 2524836"/>
              <a:gd name="connsiteX61" fmla="*/ 218364 w 3472789"/>
              <a:gd name="connsiteY61" fmla="*/ 1624084 h 2524836"/>
              <a:gd name="connsiteX62" fmla="*/ 204716 w 3472789"/>
              <a:gd name="connsiteY62" fmla="*/ 1569492 h 2524836"/>
              <a:gd name="connsiteX63" fmla="*/ 163773 w 3472789"/>
              <a:gd name="connsiteY63" fmla="*/ 1555845 h 2524836"/>
              <a:gd name="connsiteX64" fmla="*/ 68238 w 3472789"/>
              <a:gd name="connsiteY64" fmla="*/ 1542197 h 2524836"/>
              <a:gd name="connsiteX65" fmla="*/ 0 w 3472789"/>
              <a:gd name="connsiteY65" fmla="*/ 1501254 h 252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472789" h="2524836">
                <a:moveTo>
                  <a:pt x="3439235" y="109182"/>
                </a:moveTo>
                <a:cubicBezTo>
                  <a:pt x="3299108" y="74150"/>
                  <a:pt x="3472789" y="121765"/>
                  <a:pt x="3330053" y="68239"/>
                </a:cubicBezTo>
                <a:cubicBezTo>
                  <a:pt x="3305845" y="59161"/>
                  <a:pt x="3228450" y="45660"/>
                  <a:pt x="3207223" y="40943"/>
                </a:cubicBezTo>
                <a:cubicBezTo>
                  <a:pt x="3141110" y="26251"/>
                  <a:pt x="3154056" y="27864"/>
                  <a:pt x="3084394" y="0"/>
                </a:cubicBezTo>
                <a:cubicBezTo>
                  <a:pt x="3034352" y="4549"/>
                  <a:pt x="2984172" y="7777"/>
                  <a:pt x="2934268" y="13648"/>
                </a:cubicBezTo>
                <a:cubicBezTo>
                  <a:pt x="2906786" y="16881"/>
                  <a:pt x="2879840" y="23863"/>
                  <a:pt x="2852382" y="27295"/>
                </a:cubicBezTo>
                <a:cubicBezTo>
                  <a:pt x="2807015" y="32966"/>
                  <a:pt x="2761397" y="36394"/>
                  <a:pt x="2715904" y="40943"/>
                </a:cubicBezTo>
                <a:cubicBezTo>
                  <a:pt x="2702256" y="45492"/>
                  <a:pt x="2686931" y="46611"/>
                  <a:pt x="2674961" y="54591"/>
                </a:cubicBezTo>
                <a:cubicBezTo>
                  <a:pt x="2658902" y="65297"/>
                  <a:pt x="2648845" y="83178"/>
                  <a:pt x="2634018" y="95534"/>
                </a:cubicBezTo>
                <a:cubicBezTo>
                  <a:pt x="2621417" y="106035"/>
                  <a:pt x="2606722" y="113731"/>
                  <a:pt x="2593074" y="122830"/>
                </a:cubicBezTo>
                <a:cubicBezTo>
                  <a:pt x="2574877" y="150125"/>
                  <a:pt x="2553154" y="175374"/>
                  <a:pt x="2538483" y="204716"/>
                </a:cubicBezTo>
                <a:cubicBezTo>
                  <a:pt x="2503853" y="273978"/>
                  <a:pt x="2522473" y="242379"/>
                  <a:pt x="2483892" y="300251"/>
                </a:cubicBezTo>
                <a:cubicBezTo>
                  <a:pt x="2479343" y="318448"/>
                  <a:pt x="2475397" y="336807"/>
                  <a:pt x="2470244" y="354842"/>
                </a:cubicBezTo>
                <a:cubicBezTo>
                  <a:pt x="2466292" y="368674"/>
                  <a:pt x="2460086" y="381829"/>
                  <a:pt x="2456597" y="395785"/>
                </a:cubicBezTo>
                <a:cubicBezTo>
                  <a:pt x="2450971" y="418289"/>
                  <a:pt x="2451094" y="442304"/>
                  <a:pt x="2442949" y="464024"/>
                </a:cubicBezTo>
                <a:cubicBezTo>
                  <a:pt x="2437190" y="479382"/>
                  <a:pt x="2424752" y="491319"/>
                  <a:pt x="2415653" y="504967"/>
                </a:cubicBezTo>
                <a:cubicBezTo>
                  <a:pt x="2400341" y="550905"/>
                  <a:pt x="2401696" y="553276"/>
                  <a:pt x="2374710" y="600501"/>
                </a:cubicBezTo>
                <a:cubicBezTo>
                  <a:pt x="2366572" y="614743"/>
                  <a:pt x="2354750" y="626774"/>
                  <a:pt x="2347415" y="641445"/>
                </a:cubicBezTo>
                <a:cubicBezTo>
                  <a:pt x="2340981" y="654312"/>
                  <a:pt x="2345473" y="674026"/>
                  <a:pt x="2333767" y="682388"/>
                </a:cubicBezTo>
                <a:cubicBezTo>
                  <a:pt x="2310354" y="699111"/>
                  <a:pt x="2279176" y="700585"/>
                  <a:pt x="2251880" y="709684"/>
                </a:cubicBezTo>
                <a:cubicBezTo>
                  <a:pt x="2093876" y="920357"/>
                  <a:pt x="2218921" y="740067"/>
                  <a:pt x="2142698" y="873457"/>
                </a:cubicBezTo>
                <a:cubicBezTo>
                  <a:pt x="2134560" y="887698"/>
                  <a:pt x="2128211" y="904154"/>
                  <a:pt x="2115403" y="914400"/>
                </a:cubicBezTo>
                <a:cubicBezTo>
                  <a:pt x="2104169" y="923387"/>
                  <a:pt x="2088107" y="923499"/>
                  <a:pt x="2074459" y="928048"/>
                </a:cubicBezTo>
                <a:cubicBezTo>
                  <a:pt x="1996239" y="1045380"/>
                  <a:pt x="2090017" y="896931"/>
                  <a:pt x="2033516" y="1009934"/>
                </a:cubicBezTo>
                <a:cubicBezTo>
                  <a:pt x="1988708" y="1099551"/>
                  <a:pt x="2014134" y="991932"/>
                  <a:pt x="1978925" y="1132764"/>
                </a:cubicBezTo>
                <a:lnTo>
                  <a:pt x="1937982" y="1296537"/>
                </a:lnTo>
                <a:cubicBezTo>
                  <a:pt x="1933433" y="1314734"/>
                  <a:pt x="1930266" y="1333334"/>
                  <a:pt x="1924334" y="1351128"/>
                </a:cubicBezTo>
                <a:lnTo>
                  <a:pt x="1897038" y="1433015"/>
                </a:lnTo>
                <a:cubicBezTo>
                  <a:pt x="1887940" y="1460310"/>
                  <a:pt x="1895477" y="1502034"/>
                  <a:pt x="1869743" y="1514901"/>
                </a:cubicBezTo>
                <a:cubicBezTo>
                  <a:pt x="1800481" y="1549532"/>
                  <a:pt x="1832080" y="1530912"/>
                  <a:pt x="1774209" y="1569492"/>
                </a:cubicBezTo>
                <a:cubicBezTo>
                  <a:pt x="1765110" y="1596788"/>
                  <a:pt x="1762873" y="1627439"/>
                  <a:pt x="1746913" y="1651379"/>
                </a:cubicBezTo>
                <a:cubicBezTo>
                  <a:pt x="1737815" y="1665027"/>
                  <a:pt x="1726280" y="1677333"/>
                  <a:pt x="1719618" y="1692322"/>
                </a:cubicBezTo>
                <a:cubicBezTo>
                  <a:pt x="1654656" y="1838488"/>
                  <a:pt x="1726798" y="1722496"/>
                  <a:pt x="1665026" y="1815152"/>
                </a:cubicBezTo>
                <a:cubicBezTo>
                  <a:pt x="1660477" y="1828800"/>
                  <a:pt x="1654868" y="1842139"/>
                  <a:pt x="1651379" y="1856095"/>
                </a:cubicBezTo>
                <a:cubicBezTo>
                  <a:pt x="1644894" y="1882037"/>
                  <a:pt x="1634591" y="1950904"/>
                  <a:pt x="1624083" y="1978925"/>
                </a:cubicBezTo>
                <a:cubicBezTo>
                  <a:pt x="1616940" y="1997974"/>
                  <a:pt x="1604344" y="2014626"/>
                  <a:pt x="1596788" y="2033516"/>
                </a:cubicBezTo>
                <a:cubicBezTo>
                  <a:pt x="1586102" y="2060230"/>
                  <a:pt x="1576470" y="2087490"/>
                  <a:pt x="1569492" y="2115403"/>
                </a:cubicBezTo>
                <a:cubicBezTo>
                  <a:pt x="1564943" y="2133600"/>
                  <a:pt x="1565150" y="2153708"/>
                  <a:pt x="1555844" y="2169994"/>
                </a:cubicBezTo>
                <a:cubicBezTo>
                  <a:pt x="1546268" y="2186752"/>
                  <a:pt x="1528549" y="2197289"/>
                  <a:pt x="1514901" y="2210937"/>
                </a:cubicBezTo>
                <a:cubicBezTo>
                  <a:pt x="1509711" y="2236886"/>
                  <a:pt x="1501593" y="2292145"/>
                  <a:pt x="1487606" y="2320119"/>
                </a:cubicBezTo>
                <a:cubicBezTo>
                  <a:pt x="1480270" y="2334790"/>
                  <a:pt x="1466972" y="2346074"/>
                  <a:pt x="1460310" y="2361063"/>
                </a:cubicBezTo>
                <a:cubicBezTo>
                  <a:pt x="1447654" y="2389539"/>
                  <a:pt x="1437672" y="2458329"/>
                  <a:pt x="1405719" y="2483892"/>
                </a:cubicBezTo>
                <a:cubicBezTo>
                  <a:pt x="1394485" y="2492879"/>
                  <a:pt x="1378732" y="2494051"/>
                  <a:pt x="1364776" y="2497540"/>
                </a:cubicBezTo>
                <a:lnTo>
                  <a:pt x="1255594" y="2524836"/>
                </a:lnTo>
                <a:cubicBezTo>
                  <a:pt x="1251045" y="2506639"/>
                  <a:pt x="1245301" y="2488699"/>
                  <a:pt x="1241946" y="2470245"/>
                </a:cubicBezTo>
                <a:cubicBezTo>
                  <a:pt x="1236191" y="2438596"/>
                  <a:pt x="1234607" y="2406254"/>
                  <a:pt x="1228298" y="2374710"/>
                </a:cubicBezTo>
                <a:cubicBezTo>
                  <a:pt x="1221819" y="2342316"/>
                  <a:pt x="1208542" y="2318248"/>
                  <a:pt x="1187355" y="2292824"/>
                </a:cubicBezTo>
                <a:cubicBezTo>
                  <a:pt x="1174999" y="2277997"/>
                  <a:pt x="1162471" y="2262587"/>
                  <a:pt x="1146412" y="2251881"/>
                </a:cubicBezTo>
                <a:cubicBezTo>
                  <a:pt x="1120426" y="2234557"/>
                  <a:pt x="1018026" y="2225741"/>
                  <a:pt x="1009934" y="2224585"/>
                </a:cubicBezTo>
                <a:cubicBezTo>
                  <a:pt x="996286" y="2220036"/>
                  <a:pt x="980961" y="2218917"/>
                  <a:pt x="968991" y="2210937"/>
                </a:cubicBezTo>
                <a:cubicBezTo>
                  <a:pt x="908363" y="2170519"/>
                  <a:pt x="943869" y="2165862"/>
                  <a:pt x="887104" y="2115403"/>
                </a:cubicBezTo>
                <a:cubicBezTo>
                  <a:pt x="862585" y="2093608"/>
                  <a:pt x="832513" y="2079009"/>
                  <a:pt x="805218" y="2060812"/>
                </a:cubicBezTo>
                <a:lnTo>
                  <a:pt x="723331" y="2006221"/>
                </a:lnTo>
                <a:cubicBezTo>
                  <a:pt x="709683" y="1997122"/>
                  <a:pt x="697949" y="1984112"/>
                  <a:pt x="682388" y="1978925"/>
                </a:cubicBezTo>
                <a:lnTo>
                  <a:pt x="641444" y="1965278"/>
                </a:lnTo>
                <a:cubicBezTo>
                  <a:pt x="549386" y="1873219"/>
                  <a:pt x="596179" y="1895598"/>
                  <a:pt x="518615" y="1869743"/>
                </a:cubicBezTo>
                <a:cubicBezTo>
                  <a:pt x="454474" y="1805604"/>
                  <a:pt x="493730" y="1839506"/>
                  <a:pt x="395785" y="1774209"/>
                </a:cubicBezTo>
                <a:lnTo>
                  <a:pt x="354841" y="1746913"/>
                </a:lnTo>
                <a:cubicBezTo>
                  <a:pt x="345743" y="1733265"/>
                  <a:pt x="340354" y="1716217"/>
                  <a:pt x="327546" y="1705970"/>
                </a:cubicBezTo>
                <a:cubicBezTo>
                  <a:pt x="316313" y="1696983"/>
                  <a:pt x="299470" y="1698756"/>
                  <a:pt x="286603" y="1692322"/>
                </a:cubicBezTo>
                <a:cubicBezTo>
                  <a:pt x="271932" y="1684987"/>
                  <a:pt x="259307" y="1674125"/>
                  <a:pt x="245659" y="1665027"/>
                </a:cubicBezTo>
                <a:cubicBezTo>
                  <a:pt x="236561" y="1651379"/>
                  <a:pt x="224825" y="1639160"/>
                  <a:pt x="218364" y="1624084"/>
                </a:cubicBezTo>
                <a:cubicBezTo>
                  <a:pt x="210975" y="1606843"/>
                  <a:pt x="216434" y="1584139"/>
                  <a:pt x="204716" y="1569492"/>
                </a:cubicBezTo>
                <a:cubicBezTo>
                  <a:pt x="195729" y="1558259"/>
                  <a:pt x="177879" y="1558666"/>
                  <a:pt x="163773" y="1555845"/>
                </a:cubicBezTo>
                <a:cubicBezTo>
                  <a:pt x="132229" y="1549536"/>
                  <a:pt x="100083" y="1546746"/>
                  <a:pt x="68238" y="1542197"/>
                </a:cubicBezTo>
                <a:cubicBezTo>
                  <a:pt x="7893" y="1512024"/>
                  <a:pt x="28033" y="1529287"/>
                  <a:pt x="0" y="1501254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Сервер</a:t>
            </a:r>
            <a:endParaRPr lang="ru-RU" dirty="0"/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236476" y="857232"/>
            <a:ext cx="9433048" cy="50783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dirty="0" smtClean="0"/>
              <a:t>– головний комп’ютер у мережі.</a:t>
            </a:r>
          </a:p>
        </p:txBody>
      </p:sp>
      <p:grpSp>
        <p:nvGrpSpPr>
          <p:cNvPr id="10" name="Групувати 9"/>
          <p:cNvGrpSpPr/>
          <p:nvPr/>
        </p:nvGrpSpPr>
        <p:grpSpPr>
          <a:xfrm>
            <a:off x="704528" y="3536727"/>
            <a:ext cx="2952328" cy="2292350"/>
            <a:chOff x="704528" y="3573016"/>
            <a:chExt cx="2952328" cy="2292350"/>
          </a:xfrm>
        </p:grpSpPr>
        <p:pic>
          <p:nvPicPr>
            <p:cNvPr id="15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704528" y="3573016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Овал 19"/>
            <p:cNvSpPr/>
            <p:nvPr/>
          </p:nvSpPr>
          <p:spPr>
            <a:xfrm>
              <a:off x="2576736" y="4797152"/>
              <a:ext cx="1080120" cy="79208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988455" y="1571613"/>
            <a:ext cx="3929090" cy="12772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sz="1400" dirty="0" smtClean="0">
                <a:solidFill>
                  <a:schemeClr val="tx1"/>
                </a:solidFill>
              </a:rPr>
              <a:t>керує іншими комп’ютерами</a:t>
            </a:r>
          </a:p>
          <a:p>
            <a:pPr algn="ctr">
              <a:lnSpc>
                <a:spcPct val="150000"/>
              </a:lnSpc>
            </a:pPr>
            <a:r>
              <a:rPr lang="uk-UA" sz="1400" dirty="0" smtClean="0">
                <a:solidFill>
                  <a:schemeClr val="tx1"/>
                </a:solidFill>
              </a:rPr>
              <a:t>створює мережеву комп’ютерну гру</a:t>
            </a:r>
          </a:p>
          <a:p>
            <a:pPr algn="ctr">
              <a:lnSpc>
                <a:spcPct val="150000"/>
              </a:lnSpc>
            </a:pPr>
            <a:r>
              <a:rPr lang="uk-UA" sz="1400" dirty="0" smtClean="0">
                <a:solidFill>
                  <a:schemeClr val="tx1"/>
                </a:solidFill>
              </a:rPr>
              <a:t>зберігає дані з інших комп’ютерів</a:t>
            </a:r>
            <a:endParaRPr lang="uk-UA" sz="1400" b="1" dirty="0" smtClean="0">
              <a:solidFill>
                <a:schemeClr val="tx1"/>
              </a:solidFill>
            </a:endParaRPr>
          </a:p>
          <a:p>
            <a:pPr marL="342900" indent="-342900" algn="ctr"/>
            <a:endParaRPr lang="uk-UA" sz="1400" dirty="0">
              <a:solidFill>
                <a:schemeClr val="tx1"/>
              </a:solidFill>
            </a:endParaRPr>
          </a:p>
        </p:txBody>
      </p:sp>
      <p:grpSp>
        <p:nvGrpSpPr>
          <p:cNvPr id="11" name="Групувати 10"/>
          <p:cNvGrpSpPr/>
          <p:nvPr/>
        </p:nvGrpSpPr>
        <p:grpSpPr>
          <a:xfrm>
            <a:off x="6024570" y="3536727"/>
            <a:ext cx="2952328" cy="2292350"/>
            <a:chOff x="704528" y="3573016"/>
            <a:chExt cx="2952328" cy="2292350"/>
          </a:xfrm>
        </p:grpSpPr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704528" y="3573016"/>
              <a:ext cx="2763837" cy="229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Овал 12"/>
            <p:cNvSpPr/>
            <p:nvPr/>
          </p:nvSpPr>
          <p:spPr>
            <a:xfrm>
              <a:off x="2576736" y="4797152"/>
              <a:ext cx="1080120" cy="79208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28" name="Групувати 27"/>
          <p:cNvGrpSpPr/>
          <p:nvPr/>
        </p:nvGrpSpPr>
        <p:grpSpPr>
          <a:xfrm>
            <a:off x="952472" y="3643314"/>
            <a:ext cx="2400433" cy="1867254"/>
            <a:chOff x="980930" y="3686355"/>
            <a:chExt cx="2400433" cy="1867254"/>
          </a:xfrm>
        </p:grpSpPr>
        <p:sp>
          <p:nvSpPr>
            <p:cNvPr id="18" name="Паралелограм 17"/>
            <p:cNvSpPr/>
            <p:nvPr/>
          </p:nvSpPr>
          <p:spPr>
            <a:xfrm rot="1148788" flipV="1">
              <a:off x="1838186" y="5329430"/>
              <a:ext cx="300273" cy="224179"/>
            </a:xfrm>
            <a:prstGeom prst="parallelogram">
              <a:avLst/>
            </a:prstGeom>
            <a:blipFill>
              <a:blip r:embed="rId4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4" name="Паралелограм 23"/>
            <p:cNvSpPr/>
            <p:nvPr/>
          </p:nvSpPr>
          <p:spPr>
            <a:xfrm rot="1148788" flipV="1">
              <a:off x="3081090" y="3800834"/>
              <a:ext cx="300273" cy="224179"/>
            </a:xfrm>
            <a:prstGeom prst="parallelogram">
              <a:avLst/>
            </a:prstGeom>
            <a:blipFill>
              <a:blip r:embed="rId4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5" name="Паралелограм 24"/>
            <p:cNvSpPr/>
            <p:nvPr/>
          </p:nvSpPr>
          <p:spPr>
            <a:xfrm rot="1148788" flipV="1">
              <a:off x="2266814" y="3686355"/>
              <a:ext cx="300273" cy="224179"/>
            </a:xfrm>
            <a:prstGeom prst="parallelogram">
              <a:avLst/>
            </a:prstGeom>
            <a:blipFill>
              <a:blip r:embed="rId4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6" name="Паралелограм 25"/>
            <p:cNvSpPr/>
            <p:nvPr/>
          </p:nvSpPr>
          <p:spPr>
            <a:xfrm rot="1148788" flipV="1">
              <a:off x="980930" y="3829231"/>
              <a:ext cx="300273" cy="224179"/>
            </a:xfrm>
            <a:prstGeom prst="parallelogram">
              <a:avLst/>
            </a:prstGeom>
            <a:blipFill>
              <a:blip r:embed="rId4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7" name="Паралелограм 26"/>
            <p:cNvSpPr/>
            <p:nvPr/>
          </p:nvSpPr>
          <p:spPr>
            <a:xfrm rot="1148788" flipV="1">
              <a:off x="980930" y="4829364"/>
              <a:ext cx="300273" cy="224179"/>
            </a:xfrm>
            <a:prstGeom prst="parallelogram">
              <a:avLst/>
            </a:prstGeom>
            <a:blipFill>
              <a:blip r:embed="rId4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31" name="Кнопка дії: додому 30">
            <a:hlinkClick r:id="" action="ppaction://hlinkshowjump?jump=firstslide" highlightClick="1"/>
          </p:cNvPr>
          <p:cNvSpPr>
            <a:spLocks noChangeAspect="1"/>
          </p:cNvSpPr>
          <p:nvPr/>
        </p:nvSpPr>
        <p:spPr>
          <a:xfrm>
            <a:off x="0" y="6453336"/>
            <a:ext cx="488504" cy="40466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1" name="Рисунок 20" descr="vaatvwyk-900-removebg-preview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 rot="20101660">
            <a:off x="6630301" y="4034732"/>
            <a:ext cx="642942" cy="642942"/>
          </a:xfrm>
          <a:prstGeom prst="rect">
            <a:avLst/>
          </a:prstGeom>
        </p:spPr>
      </p:pic>
      <p:pic>
        <p:nvPicPr>
          <p:cNvPr id="22" name="Рисунок 21" descr="vaatvwyk-900-removebg-preview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 rot="2360696">
            <a:off x="7727151" y="4060011"/>
            <a:ext cx="642942" cy="64294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Вебсайти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Мережеві технології та Інтернет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Інтернет</a:t>
            </a:r>
            <a:endParaRPr lang="uk-UA" dirty="0"/>
          </a:p>
        </p:txBody>
      </p:sp>
      <p:pic>
        <p:nvPicPr>
          <p:cNvPr id="4100" name="Picture 4" descr="http://politolog.net/wp-content/uploads/2017/10/network_coverag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556792"/>
            <a:ext cx="7620000" cy="41624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Інтернет-провайдер</a:t>
            </a:r>
            <a:endParaRPr lang="uk-UA" dirty="0"/>
          </a:p>
        </p:txBody>
      </p:sp>
      <p:grpSp>
        <p:nvGrpSpPr>
          <p:cNvPr id="3" name="Групувати 27"/>
          <p:cNvGrpSpPr/>
          <p:nvPr/>
        </p:nvGrpSpPr>
        <p:grpSpPr>
          <a:xfrm>
            <a:off x="196676" y="1772816"/>
            <a:ext cx="9512648" cy="4286249"/>
            <a:chOff x="199156" y="1772816"/>
            <a:chExt cx="9512648" cy="4286249"/>
          </a:xfrm>
        </p:grpSpPr>
        <p:pic>
          <p:nvPicPr>
            <p:cNvPr id="4" name="Рисунок 5" descr="network_could_nicolas_cl_.png"/>
            <p:cNvPicPr>
              <a:picLocks noChangeAspect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2144688" y="2558627"/>
              <a:ext cx="5515372" cy="350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Рисунок 6" descr="hub_ruairi_hann_r.png"/>
            <p:cNvPicPr>
              <a:picLocks noChangeAspect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276547" y="4201691"/>
              <a:ext cx="1006079" cy="465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Рисунок 7" descr="computer1.png"/>
            <p:cNvPicPr>
              <a:picLocks noChangeAspect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199156" y="2844377"/>
              <a:ext cx="1135063" cy="1047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Рисунок 6" descr="Рисунок1.emf"/>
            <p:cNvPicPr>
              <a:picLocks noChangeAspect="1"/>
            </p:cNvPicPr>
            <p:nvPr/>
          </p:nvPicPr>
          <p:blipFill>
            <a:blip r:embed="rId6" cstate="screen"/>
            <a:srcRect l="50488" t="14320" r="34415" b="62112"/>
            <a:stretch>
              <a:fillRect/>
            </a:stretch>
          </p:blipFill>
          <p:spPr bwMode="auto">
            <a:xfrm>
              <a:off x="4687813" y="2415753"/>
              <a:ext cx="1095507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Рисунок 7" descr="Рисунок1.emf"/>
            <p:cNvPicPr>
              <a:picLocks noChangeAspect="1"/>
            </p:cNvPicPr>
            <p:nvPr/>
          </p:nvPicPr>
          <p:blipFill>
            <a:blip r:embed="rId6" cstate="screen"/>
            <a:srcRect l="50488" t="14320" r="34415" b="62112"/>
            <a:stretch>
              <a:fillRect/>
            </a:stretch>
          </p:blipFill>
          <p:spPr bwMode="auto">
            <a:xfrm>
              <a:off x="3913907" y="2701503"/>
              <a:ext cx="1095507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Рисунок 8" descr="Рисунок1.emf"/>
            <p:cNvPicPr>
              <a:picLocks noChangeAspect="1"/>
            </p:cNvPicPr>
            <p:nvPr/>
          </p:nvPicPr>
          <p:blipFill>
            <a:blip r:embed="rId6" cstate="screen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 l="50488" t="14320" r="34415" b="62113"/>
            <a:stretch>
              <a:fillRect/>
            </a:stretch>
          </p:blipFill>
          <p:spPr>
            <a:xfrm>
              <a:off x="6158244" y="2772931"/>
              <a:ext cx="1095571" cy="1083607"/>
            </a:xfrm>
            <a:prstGeom prst="rect">
              <a:avLst/>
            </a:prstGeom>
          </p:spPr>
        </p:pic>
        <p:pic>
          <p:nvPicPr>
            <p:cNvPr id="10" name="Рисунок 9" descr="Рисунок1.emf"/>
            <p:cNvPicPr>
              <a:picLocks noChangeAspect="1"/>
            </p:cNvPicPr>
            <p:nvPr/>
          </p:nvPicPr>
          <p:blipFill>
            <a:blip r:embed="rId6" cstate="screen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rcRect l="50488" t="14320" r="34415" b="62113"/>
            <a:stretch>
              <a:fillRect/>
            </a:stretch>
          </p:blipFill>
          <p:spPr>
            <a:xfrm>
              <a:off x="5771288" y="4344567"/>
              <a:ext cx="1095571" cy="1083607"/>
            </a:xfrm>
            <a:prstGeom prst="rect">
              <a:avLst/>
            </a:prstGeom>
          </p:spPr>
        </p:pic>
        <p:sp>
          <p:nvSpPr>
            <p:cNvPr id="11" name="AutoShape 36"/>
            <p:cNvSpPr>
              <a:spLocks/>
            </p:cNvSpPr>
            <p:nvPr/>
          </p:nvSpPr>
          <p:spPr bwMode="auto">
            <a:xfrm>
              <a:off x="3924672" y="1772816"/>
              <a:ext cx="2132542" cy="357187"/>
            </a:xfrm>
            <a:prstGeom prst="borderCallout2">
              <a:avLst>
                <a:gd name="adj1" fmla="val 110782"/>
                <a:gd name="adj2" fmla="val 14449"/>
                <a:gd name="adj3" fmla="val 121597"/>
                <a:gd name="adj4" fmla="val 11634"/>
                <a:gd name="adj5" fmla="val 240690"/>
                <a:gd name="adj6" fmla="val 17931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pPr algn="ctr"/>
              <a:r>
                <a:rPr lang="uk-UA" sz="1600" dirty="0" smtClean="0"/>
                <a:t>сервери</a:t>
              </a:r>
              <a:endParaRPr lang="uk-UA" sz="1600" dirty="0"/>
            </a:p>
          </p:txBody>
        </p:sp>
        <p:pic>
          <p:nvPicPr>
            <p:cNvPr id="14" name="Рисунок 13" descr="Рисунок1.emf"/>
            <p:cNvPicPr>
              <a:picLocks noChangeAspect="1"/>
            </p:cNvPicPr>
            <p:nvPr/>
          </p:nvPicPr>
          <p:blipFill>
            <a:blip r:embed="rId6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l="50488" t="14320" r="34415" b="62113"/>
            <a:stretch>
              <a:fillRect/>
            </a:stretch>
          </p:blipFill>
          <p:spPr>
            <a:xfrm>
              <a:off x="4300856" y="4558881"/>
              <a:ext cx="1095571" cy="1083607"/>
            </a:xfrm>
            <a:prstGeom prst="rect">
              <a:avLst/>
            </a:prstGeom>
          </p:spPr>
        </p:pic>
        <p:pic>
          <p:nvPicPr>
            <p:cNvPr id="16" name="Прямокутник 22"/>
            <p:cNvPicPr>
              <a:picLocks noChangeArrowheads="1"/>
            </p:cNvPicPr>
            <p:nvPr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2000672" y="3350715"/>
              <a:ext cx="5646076" cy="1139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Пряма сполучна лінія 16"/>
            <p:cNvCxnSpPr/>
            <p:nvPr/>
          </p:nvCxnSpPr>
          <p:spPr>
            <a:xfrm rot="16200000" flipH="1">
              <a:off x="545496" y="3968461"/>
              <a:ext cx="428625" cy="378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Пряма зі стрілкою 17"/>
            <p:cNvCxnSpPr/>
            <p:nvPr/>
          </p:nvCxnSpPr>
          <p:spPr>
            <a:xfrm flipV="1">
              <a:off x="1282626" y="4430835"/>
              <a:ext cx="934070" cy="263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353939" y="4558878"/>
              <a:ext cx="773906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uk-UA" sz="1200"/>
                <a:t>модем</a:t>
              </a:r>
            </a:p>
          </p:txBody>
        </p:sp>
        <p:sp>
          <p:nvSpPr>
            <p:cNvPr id="20" name="TextBox 28"/>
            <p:cNvSpPr txBox="1">
              <a:spLocks noChangeArrowheads="1"/>
            </p:cNvSpPr>
            <p:nvPr/>
          </p:nvSpPr>
          <p:spPr bwMode="auto">
            <a:xfrm>
              <a:off x="1208584" y="4130254"/>
              <a:ext cx="137063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uk-UA" sz="1200" dirty="0" smtClean="0"/>
                <a:t>лінія </a:t>
              </a:r>
              <a:r>
                <a:rPr lang="uk-UA" sz="1200" dirty="0"/>
                <a:t>зв’язку</a:t>
              </a:r>
            </a:p>
          </p:txBody>
        </p:sp>
        <p:pic>
          <p:nvPicPr>
            <p:cNvPr id="21" name="Рисунок 20" descr="Рисунок1.emf"/>
            <p:cNvPicPr>
              <a:picLocks noChangeAspect="1"/>
            </p:cNvPicPr>
            <p:nvPr/>
          </p:nvPicPr>
          <p:blipFill>
            <a:blip r:embed="rId6" cstate="screen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50488" t="14320" r="34415" b="62113"/>
            <a:stretch>
              <a:fillRect/>
            </a:stretch>
          </p:blipFill>
          <p:spPr>
            <a:xfrm>
              <a:off x="2985206" y="4416005"/>
              <a:ext cx="1095571" cy="1083607"/>
            </a:xfrm>
            <a:prstGeom prst="rect">
              <a:avLst/>
            </a:prstGeom>
          </p:spPr>
        </p:pic>
        <p:sp>
          <p:nvSpPr>
            <p:cNvPr id="23" name="Подвійна стрілка вліво/вправо 22"/>
            <p:cNvSpPr/>
            <p:nvPr/>
          </p:nvSpPr>
          <p:spPr>
            <a:xfrm>
              <a:off x="7185248" y="4214811"/>
              <a:ext cx="1512169" cy="44517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uk-UA" sz="1200" dirty="0" smtClean="0">
                  <a:solidFill>
                    <a:schemeClr val="tx1"/>
                  </a:solidFill>
                </a:rPr>
                <a:t>лінія </a:t>
              </a:r>
              <a:r>
                <a:rPr lang="uk-UA" sz="1200" dirty="0">
                  <a:solidFill>
                    <a:schemeClr val="tx1"/>
                  </a:solidFill>
                </a:rPr>
                <a:t>зв’язку</a:t>
              </a:r>
            </a:p>
          </p:txBody>
        </p:sp>
        <p:sp>
          <p:nvSpPr>
            <p:cNvPr id="24" name="TextBox 34"/>
            <p:cNvSpPr txBox="1">
              <a:spLocks noChangeArrowheads="1"/>
            </p:cNvSpPr>
            <p:nvPr/>
          </p:nvSpPr>
          <p:spPr bwMode="auto">
            <a:xfrm>
              <a:off x="199156" y="2558627"/>
              <a:ext cx="122793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uk-UA" sz="1200" dirty="0" smtClean="0"/>
                <a:t>користувач</a:t>
              </a:r>
              <a:endParaRPr lang="uk-UA" sz="1200" dirty="0"/>
            </a:p>
          </p:txBody>
        </p:sp>
        <p:pic>
          <p:nvPicPr>
            <p:cNvPr id="26" name="Picture 31"/>
            <p:cNvPicPr>
              <a:picLocks noChangeAspect="1" noChangeArrowheads="1"/>
            </p:cNvPicPr>
            <p:nvPr/>
          </p:nvPicPr>
          <p:blipFill>
            <a:blip r:embed="rId8" cstate="screen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697416" y="3861048"/>
              <a:ext cx="1014388" cy="1014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Що «пропонує» Інтернет?</a:t>
            </a:r>
            <a:endParaRPr lang="uk-UA" dirty="0"/>
          </a:p>
        </p:txBody>
      </p:sp>
      <p:graphicFrame>
        <p:nvGraphicFramePr>
          <p:cNvPr id="4" name="Таблиця 3"/>
          <p:cNvGraphicFramePr>
            <a:graphicFrameLocks noGrp="1"/>
          </p:cNvGraphicFramePr>
          <p:nvPr/>
        </p:nvGraphicFramePr>
        <p:xfrm>
          <a:off x="2089925" y="1340768"/>
          <a:ext cx="572615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151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uk-UA" dirty="0" smtClean="0"/>
                        <a:t>Послуги Інтернету</a:t>
                      </a:r>
                      <a:endParaRPr lang="uk-U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uk-UA" sz="1800" b="1" dirty="0" smtClean="0"/>
                        <a:t>всесвітнє</a:t>
                      </a:r>
                      <a:r>
                        <a:rPr lang="uk-UA" sz="1800" b="1" baseline="0" dirty="0" smtClean="0"/>
                        <a:t> павутиння</a:t>
                      </a:r>
                      <a:r>
                        <a:rPr lang="uk-UA" b="0" dirty="0" smtClean="0"/>
                        <a:t> </a:t>
                      </a:r>
                      <a:r>
                        <a:rPr lang="uk-UA" sz="1600" b="0" dirty="0" smtClean="0"/>
                        <a:t>(</a:t>
                      </a:r>
                      <a:r>
                        <a:rPr lang="en-US" sz="1600" b="0" dirty="0" smtClean="0"/>
                        <a:t>WWW</a:t>
                      </a:r>
                      <a:r>
                        <a:rPr lang="uk-UA" sz="1600" b="0" dirty="0" smtClean="0"/>
                        <a:t>)</a:t>
                      </a:r>
                      <a:endParaRPr lang="uk-UA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uk-UA" b="0" dirty="0" smtClean="0"/>
                        <a:t>електронна</a:t>
                      </a:r>
                      <a:r>
                        <a:rPr lang="uk-UA" b="0" baseline="0" dirty="0" smtClean="0"/>
                        <a:t> пошта </a:t>
                      </a:r>
                      <a:r>
                        <a:rPr lang="uk-UA" sz="1600" b="0" baseline="0" dirty="0" smtClean="0"/>
                        <a:t>(</a:t>
                      </a:r>
                      <a:r>
                        <a:rPr lang="en-US" sz="1600" b="0" baseline="0" dirty="0" smtClean="0"/>
                        <a:t>E-mail)</a:t>
                      </a:r>
                      <a:endParaRPr lang="uk-UA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uk-UA" b="0" baseline="0" dirty="0" smtClean="0"/>
                        <a:t>спілкування</a:t>
                      </a:r>
                      <a:endParaRPr lang="uk-UA" sz="14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/>
                        <a:t>пошукові системи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/>
                        <a:t>обмін</a:t>
                      </a:r>
                      <a:r>
                        <a:rPr lang="uk-UA" b="0" baseline="0" dirty="0" smtClean="0"/>
                        <a:t> файлами</a:t>
                      </a:r>
                      <a:endParaRPr lang="uk-UA" b="0" dirty="0" smtClean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uk-UA" sz="1800" b="0" dirty="0" smtClean="0"/>
                        <a:t>електронні магазини</a:t>
                      </a:r>
                      <a:endParaRPr lang="uk-UA" sz="1800" b="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Рисунок 6" descr="network.pn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224808" y="2204864"/>
            <a:ext cx="4464496" cy="412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" name="Рисунок 92" descr="Рисунок1.emf"/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50488" t="14320" r="34415" b="62113"/>
          <a:stretch>
            <a:fillRect/>
          </a:stretch>
        </p:blipFill>
        <p:spPr>
          <a:xfrm>
            <a:off x="6609184" y="4149080"/>
            <a:ext cx="2304134" cy="2278973"/>
          </a:xfrm>
          <a:prstGeom prst="rect">
            <a:avLst/>
          </a:prstGeom>
        </p:spPr>
      </p:pic>
      <p:pic>
        <p:nvPicPr>
          <p:cNvPr id="92" name="Рисунок 91" descr="Рисунок1.emf"/>
          <p:cNvPicPr>
            <a:picLocks noChangeAspect="1"/>
          </p:cNvPicPr>
          <p:nvPr/>
        </p:nvPicPr>
        <p:blipFill>
          <a:blip r:embed="rId4" cstate="screen"/>
          <a:srcRect l="50488" t="14320" r="34415" b="62112"/>
          <a:stretch>
            <a:fillRect/>
          </a:stretch>
        </p:blipFill>
        <p:spPr bwMode="auto">
          <a:xfrm>
            <a:off x="7185248" y="1052736"/>
            <a:ext cx="232815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</a:t>
            </a:r>
            <a:r>
              <a:rPr lang="en-US" b="0" dirty="0" smtClean="0"/>
              <a:t>orld</a:t>
            </a:r>
            <a:r>
              <a:rPr lang="en-US" dirty="0" smtClean="0"/>
              <a:t> W</a:t>
            </a:r>
            <a:r>
              <a:rPr lang="en-US" b="0" dirty="0" smtClean="0"/>
              <a:t>ide</a:t>
            </a:r>
            <a:r>
              <a:rPr lang="en-US" dirty="0" smtClean="0"/>
              <a:t> W</a:t>
            </a:r>
            <a:r>
              <a:rPr lang="en-US" b="0" dirty="0" smtClean="0"/>
              <a:t>eb</a:t>
            </a:r>
            <a:r>
              <a:rPr lang="uk-UA" b="0" dirty="0" smtClean="0"/>
              <a:t> – Всесвітнє павутиння</a:t>
            </a:r>
            <a:endParaRPr lang="uk-UA" b="0" dirty="0"/>
          </a:p>
        </p:txBody>
      </p:sp>
      <p:pic>
        <p:nvPicPr>
          <p:cNvPr id="24" name="Рисунок 23" descr="Рисунок1.emf"/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50488" t="14320" r="34415" b="62113"/>
          <a:stretch>
            <a:fillRect/>
          </a:stretch>
        </p:blipFill>
        <p:spPr>
          <a:xfrm>
            <a:off x="1352600" y="4077072"/>
            <a:ext cx="2304256" cy="2279093"/>
          </a:xfrm>
          <a:prstGeom prst="rect">
            <a:avLst/>
          </a:prstGeom>
        </p:spPr>
      </p:pic>
      <p:grpSp>
        <p:nvGrpSpPr>
          <p:cNvPr id="3" name="Групувати 43"/>
          <p:cNvGrpSpPr/>
          <p:nvPr/>
        </p:nvGrpSpPr>
        <p:grpSpPr>
          <a:xfrm>
            <a:off x="200472" y="4797152"/>
            <a:ext cx="2304255" cy="1224136"/>
            <a:chOff x="-73949" y="2204864"/>
            <a:chExt cx="9203413" cy="4248472"/>
          </a:xfrm>
        </p:grpSpPr>
        <p:sp>
          <p:nvSpPr>
            <p:cNvPr id="45" name="Прямокутник 44"/>
            <p:cNvSpPr/>
            <p:nvPr/>
          </p:nvSpPr>
          <p:spPr>
            <a:xfrm>
              <a:off x="776536" y="2204864"/>
              <a:ext cx="8352928" cy="424847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3944888" y="2780928"/>
              <a:ext cx="2016224" cy="12329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47" name="Picture 3"/>
            <p:cNvPicPr>
              <a:picLocks noChangeAspect="1" noChangeArrowheads="1"/>
            </p:cNvPicPr>
            <p:nvPr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1280592" y="4797152"/>
              <a:ext cx="2016224" cy="12396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48" name="Picture 4"/>
            <p:cNvPicPr>
              <a:picLocks noChangeAspect="1" noChangeArrowheads="1"/>
            </p:cNvPicPr>
            <p:nvPr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3976160" y="4797152"/>
              <a:ext cx="1953681" cy="12241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49" name="Picture 5"/>
            <p:cNvPicPr>
              <a:picLocks noChangeAspect="1" noChangeArrowheads="1"/>
            </p:cNvPicPr>
            <p:nvPr/>
          </p:nvPicPr>
          <p:blipFill>
            <a:blip r:embed="rId8" cstate="screen"/>
            <a:srcRect/>
            <a:stretch>
              <a:fillRect/>
            </a:stretch>
          </p:blipFill>
          <p:spPr bwMode="auto">
            <a:xfrm>
              <a:off x="6609184" y="4797152"/>
              <a:ext cx="1991064" cy="1224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50" name="Стрілка вправо 49"/>
            <p:cNvSpPr/>
            <p:nvPr/>
          </p:nvSpPr>
          <p:spPr>
            <a:xfrm rot="19164535">
              <a:off x="2449174" y="4073651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1" name="Стрілка вправо 50"/>
            <p:cNvSpPr/>
            <p:nvPr/>
          </p:nvSpPr>
          <p:spPr>
            <a:xfrm rot="13314742">
              <a:off x="5823052" y="4086088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2" name="Стрілка вправо 51"/>
            <p:cNvSpPr/>
            <p:nvPr/>
          </p:nvSpPr>
          <p:spPr>
            <a:xfrm rot="16200000">
              <a:off x="4557554" y="4329697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3" name="Стрілка вправо 52"/>
            <p:cNvSpPr/>
            <p:nvPr/>
          </p:nvSpPr>
          <p:spPr>
            <a:xfrm rot="10800000">
              <a:off x="5924511" y="5337809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4" name="Стрілка вправо 53"/>
            <p:cNvSpPr/>
            <p:nvPr/>
          </p:nvSpPr>
          <p:spPr>
            <a:xfrm rot="12967717">
              <a:off x="-73949" y="4161587"/>
              <a:ext cx="1512169" cy="242367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4" name="Групувати 56"/>
          <p:cNvGrpSpPr/>
          <p:nvPr/>
        </p:nvGrpSpPr>
        <p:grpSpPr>
          <a:xfrm>
            <a:off x="5313040" y="4941168"/>
            <a:ext cx="2304255" cy="1224136"/>
            <a:chOff x="-73949" y="2204864"/>
            <a:chExt cx="9203413" cy="4248472"/>
          </a:xfrm>
        </p:grpSpPr>
        <p:sp>
          <p:nvSpPr>
            <p:cNvPr id="58" name="Прямокутник 57"/>
            <p:cNvSpPr/>
            <p:nvPr/>
          </p:nvSpPr>
          <p:spPr>
            <a:xfrm>
              <a:off x="776536" y="2204864"/>
              <a:ext cx="8352928" cy="424847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3944888" y="2780928"/>
              <a:ext cx="2016224" cy="12329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60" name="Picture 3"/>
            <p:cNvPicPr>
              <a:picLocks noChangeAspect="1" noChangeArrowheads="1"/>
            </p:cNvPicPr>
            <p:nvPr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1280592" y="4797152"/>
              <a:ext cx="2016224" cy="12396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61" name="Picture 4"/>
            <p:cNvPicPr>
              <a:picLocks noChangeAspect="1" noChangeArrowheads="1"/>
            </p:cNvPicPr>
            <p:nvPr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3976160" y="4797152"/>
              <a:ext cx="1953681" cy="12241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62" name="Picture 5"/>
            <p:cNvPicPr>
              <a:picLocks noChangeAspect="1" noChangeArrowheads="1"/>
            </p:cNvPicPr>
            <p:nvPr/>
          </p:nvPicPr>
          <p:blipFill>
            <a:blip r:embed="rId8" cstate="screen"/>
            <a:srcRect/>
            <a:stretch>
              <a:fillRect/>
            </a:stretch>
          </p:blipFill>
          <p:spPr bwMode="auto">
            <a:xfrm>
              <a:off x="6609184" y="4797152"/>
              <a:ext cx="1991064" cy="1224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63" name="Стрілка вправо 62"/>
            <p:cNvSpPr/>
            <p:nvPr/>
          </p:nvSpPr>
          <p:spPr>
            <a:xfrm rot="19164535">
              <a:off x="2449174" y="4073651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4" name="Стрілка вправо 63"/>
            <p:cNvSpPr/>
            <p:nvPr/>
          </p:nvSpPr>
          <p:spPr>
            <a:xfrm rot="13314742">
              <a:off x="5823052" y="4086088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5" name="Стрілка вправо 64"/>
            <p:cNvSpPr/>
            <p:nvPr/>
          </p:nvSpPr>
          <p:spPr>
            <a:xfrm rot="16200000">
              <a:off x="4557554" y="4329697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6" name="Стрілка вправо 65"/>
            <p:cNvSpPr/>
            <p:nvPr/>
          </p:nvSpPr>
          <p:spPr>
            <a:xfrm rot="10800000">
              <a:off x="5924511" y="5337809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7" name="Стрілка вправо 66"/>
            <p:cNvSpPr/>
            <p:nvPr/>
          </p:nvSpPr>
          <p:spPr>
            <a:xfrm rot="12967717">
              <a:off x="-73949" y="4161587"/>
              <a:ext cx="1512169" cy="242367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5" name="Групувати 68"/>
          <p:cNvGrpSpPr/>
          <p:nvPr/>
        </p:nvGrpSpPr>
        <p:grpSpPr>
          <a:xfrm>
            <a:off x="6105128" y="1700808"/>
            <a:ext cx="2304255" cy="1224136"/>
            <a:chOff x="-73949" y="2204864"/>
            <a:chExt cx="9203413" cy="4248472"/>
          </a:xfrm>
        </p:grpSpPr>
        <p:sp>
          <p:nvSpPr>
            <p:cNvPr id="70" name="Прямокутник 69"/>
            <p:cNvSpPr/>
            <p:nvPr/>
          </p:nvSpPr>
          <p:spPr>
            <a:xfrm>
              <a:off x="776536" y="2204864"/>
              <a:ext cx="8352928" cy="424847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71" name="Picture 2"/>
            <p:cNvPicPr>
              <a:picLocks noChangeAspect="1" noChangeArrowheads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3944888" y="2780928"/>
              <a:ext cx="2016224" cy="12329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72" name="Picture 3"/>
            <p:cNvPicPr>
              <a:picLocks noChangeAspect="1" noChangeArrowheads="1"/>
            </p:cNvPicPr>
            <p:nvPr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1280592" y="4797152"/>
              <a:ext cx="2016224" cy="12396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73" name="Picture 4"/>
            <p:cNvPicPr>
              <a:picLocks noChangeAspect="1" noChangeArrowheads="1"/>
            </p:cNvPicPr>
            <p:nvPr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3976160" y="4797152"/>
              <a:ext cx="1953681" cy="12241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74" name="Picture 5"/>
            <p:cNvPicPr>
              <a:picLocks noChangeAspect="1" noChangeArrowheads="1"/>
            </p:cNvPicPr>
            <p:nvPr/>
          </p:nvPicPr>
          <p:blipFill>
            <a:blip r:embed="rId8" cstate="screen"/>
            <a:srcRect/>
            <a:stretch>
              <a:fillRect/>
            </a:stretch>
          </p:blipFill>
          <p:spPr bwMode="auto">
            <a:xfrm>
              <a:off x="6609184" y="4797152"/>
              <a:ext cx="1991064" cy="1224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75" name="Стрілка вправо 74"/>
            <p:cNvSpPr/>
            <p:nvPr/>
          </p:nvSpPr>
          <p:spPr>
            <a:xfrm rot="19164535">
              <a:off x="2449174" y="4073651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6" name="Стрілка вправо 75"/>
            <p:cNvSpPr/>
            <p:nvPr/>
          </p:nvSpPr>
          <p:spPr>
            <a:xfrm rot="13314742">
              <a:off x="5823052" y="4086088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7" name="Стрілка вправо 76"/>
            <p:cNvSpPr/>
            <p:nvPr/>
          </p:nvSpPr>
          <p:spPr>
            <a:xfrm rot="16200000">
              <a:off x="4557554" y="4329697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8" name="Стрілка вправо 77"/>
            <p:cNvSpPr/>
            <p:nvPr/>
          </p:nvSpPr>
          <p:spPr>
            <a:xfrm rot="10800000">
              <a:off x="5924511" y="5337809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9" name="Стрілка вправо 78"/>
            <p:cNvSpPr/>
            <p:nvPr/>
          </p:nvSpPr>
          <p:spPr>
            <a:xfrm rot="12967717">
              <a:off x="-73949" y="4161587"/>
              <a:ext cx="1512169" cy="242367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pic>
        <p:nvPicPr>
          <p:cNvPr id="80" name="Рисунок 79" descr="Рисунок1.emf"/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50488" t="14320" r="34415" b="62113"/>
          <a:stretch>
            <a:fillRect/>
          </a:stretch>
        </p:blipFill>
        <p:spPr>
          <a:xfrm>
            <a:off x="2720752" y="980728"/>
            <a:ext cx="2304256" cy="2279093"/>
          </a:xfrm>
          <a:prstGeom prst="rect">
            <a:avLst/>
          </a:prstGeom>
        </p:spPr>
      </p:pic>
      <p:grpSp>
        <p:nvGrpSpPr>
          <p:cNvPr id="6" name="Групувати 80"/>
          <p:cNvGrpSpPr/>
          <p:nvPr/>
        </p:nvGrpSpPr>
        <p:grpSpPr>
          <a:xfrm>
            <a:off x="1568624" y="1700808"/>
            <a:ext cx="2304255" cy="1224136"/>
            <a:chOff x="-73949" y="2204864"/>
            <a:chExt cx="9203413" cy="4248472"/>
          </a:xfrm>
        </p:grpSpPr>
        <p:sp>
          <p:nvSpPr>
            <p:cNvPr id="82" name="Прямокутник 81"/>
            <p:cNvSpPr/>
            <p:nvPr/>
          </p:nvSpPr>
          <p:spPr>
            <a:xfrm>
              <a:off x="776536" y="2204864"/>
              <a:ext cx="8352928" cy="424847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3944888" y="2780928"/>
              <a:ext cx="2016224" cy="12329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84" name="Picture 3"/>
            <p:cNvPicPr>
              <a:picLocks noChangeAspect="1" noChangeArrowheads="1"/>
            </p:cNvPicPr>
            <p:nvPr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1280592" y="4797152"/>
              <a:ext cx="2016224" cy="12396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85" name="Picture 4"/>
            <p:cNvPicPr>
              <a:picLocks noChangeAspect="1" noChangeArrowheads="1"/>
            </p:cNvPicPr>
            <p:nvPr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3976160" y="4797152"/>
              <a:ext cx="1953681" cy="12241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86" name="Picture 5"/>
            <p:cNvPicPr>
              <a:picLocks noChangeAspect="1" noChangeArrowheads="1"/>
            </p:cNvPicPr>
            <p:nvPr/>
          </p:nvPicPr>
          <p:blipFill>
            <a:blip r:embed="rId8" cstate="screen"/>
            <a:srcRect/>
            <a:stretch>
              <a:fillRect/>
            </a:stretch>
          </p:blipFill>
          <p:spPr bwMode="auto">
            <a:xfrm>
              <a:off x="6609184" y="4797152"/>
              <a:ext cx="1991064" cy="1224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7" name="Стрілка вправо 86"/>
            <p:cNvSpPr/>
            <p:nvPr/>
          </p:nvSpPr>
          <p:spPr>
            <a:xfrm rot="19164535">
              <a:off x="2449174" y="4073651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8" name="Стрілка вправо 87"/>
            <p:cNvSpPr/>
            <p:nvPr/>
          </p:nvSpPr>
          <p:spPr>
            <a:xfrm rot="13314742">
              <a:off x="5823052" y="4086088"/>
              <a:ext cx="1614690" cy="20504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9" name="Стрілка вправо 88"/>
            <p:cNvSpPr/>
            <p:nvPr/>
          </p:nvSpPr>
          <p:spPr>
            <a:xfrm rot="16200000">
              <a:off x="4557554" y="4329697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90" name="Стрілка вправо 89"/>
            <p:cNvSpPr/>
            <p:nvPr/>
          </p:nvSpPr>
          <p:spPr>
            <a:xfrm rot="10800000">
              <a:off x="5924511" y="5337809"/>
              <a:ext cx="720081" cy="214830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91" name="Стрілка вправо 90"/>
            <p:cNvSpPr/>
            <p:nvPr/>
          </p:nvSpPr>
          <p:spPr>
            <a:xfrm rot="12967717">
              <a:off x="-73949" y="4161587"/>
              <a:ext cx="1512169" cy="242367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Адреси в Інтернеті</a:t>
            </a:r>
            <a:endParaRPr lang="uk-UA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76536" y="980728"/>
            <a:ext cx="3173015" cy="25860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www.google.com.ua</a:t>
            </a:r>
          </a:p>
          <a:p>
            <a:endParaRPr lang="en-US" dirty="0"/>
          </a:p>
          <a:p>
            <a:r>
              <a:rPr lang="en-US" dirty="0"/>
              <a:t>gopher.tc.umn.edu</a:t>
            </a:r>
          </a:p>
          <a:p>
            <a:endParaRPr lang="en-US" dirty="0"/>
          </a:p>
          <a:p>
            <a:r>
              <a:rPr lang="en-US" dirty="0" smtClean="0"/>
              <a:t>www.facebook.de</a:t>
            </a:r>
            <a:endParaRPr lang="en-US" dirty="0"/>
          </a:p>
          <a:p>
            <a:endParaRPr lang="en-US" dirty="0"/>
          </a:p>
          <a:p>
            <a:r>
              <a:rPr lang="en-US" dirty="0"/>
              <a:t>www.pcwebopedia.com</a:t>
            </a:r>
            <a:endParaRPr lang="uk-UA" dirty="0"/>
          </a:p>
          <a:p>
            <a:endParaRPr lang="uk-UA" dirty="0"/>
          </a:p>
          <a:p>
            <a:r>
              <a:rPr lang="en-US" dirty="0"/>
              <a:t>ftp.syhiv.com</a:t>
            </a:r>
            <a:endParaRPr lang="uk-UA" dirty="0"/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344488" y="4077072"/>
            <a:ext cx="6120680" cy="20313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http://</a:t>
            </a:r>
            <a:r>
              <a:rPr lang="ru-RU" dirty="0" smtClean="0">
                <a:solidFill>
                  <a:srgbClr val="0000FF"/>
                </a:solidFill>
              </a:rPr>
              <a:t>www.tsu.ru</a:t>
            </a:r>
            <a:r>
              <a:rPr lang="ru-RU" dirty="0" smtClean="0">
                <a:solidFill>
                  <a:srgbClr val="339933"/>
                </a:solidFill>
              </a:rPr>
              <a:t>/ru/faculties/fi.html </a:t>
            </a:r>
            <a:endParaRPr lang="ru-RU" dirty="0">
              <a:solidFill>
                <a:srgbClr val="339933"/>
              </a:solidFill>
            </a:endParaRPr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</a:rPr>
              <a:t>ftp://</a:t>
            </a:r>
            <a:r>
              <a:rPr lang="ru-RU" dirty="0" smtClean="0">
                <a:solidFill>
                  <a:srgbClr val="0000FF"/>
                </a:solidFill>
              </a:rPr>
              <a:t>www.pcwebopedia.com</a:t>
            </a:r>
            <a:r>
              <a:rPr lang="ru-RU" dirty="0" smtClean="0">
                <a:solidFill>
                  <a:srgbClr val="008000"/>
                </a:solidFill>
              </a:rPr>
              <a:t>/stuff.exe</a:t>
            </a:r>
            <a:endParaRPr lang="uk-UA" dirty="0" smtClean="0">
              <a:solidFill>
                <a:srgbClr val="008000"/>
              </a:solidFill>
            </a:endParaRPr>
          </a:p>
          <a:p>
            <a:endParaRPr lang="uk-UA" dirty="0" smtClean="0">
              <a:solidFill>
                <a:srgbClr val="008000"/>
              </a:solidFill>
            </a:endParaRPr>
          </a:p>
          <a:p>
            <a:r>
              <a:rPr lang="uk-UA" dirty="0" smtClean="0">
                <a:solidFill>
                  <a:srgbClr val="FF0000"/>
                </a:solidFill>
              </a:rPr>
              <a:t>gopher://</a:t>
            </a:r>
            <a:r>
              <a:rPr lang="uk-UA" dirty="0" smtClean="0">
                <a:solidFill>
                  <a:srgbClr val="0000FF"/>
                </a:solidFill>
              </a:rPr>
              <a:t>gopher.tc.umn.edu</a:t>
            </a:r>
            <a:endParaRPr lang="uk-UA" dirty="0"/>
          </a:p>
          <a:p>
            <a:endParaRPr lang="uk-UA" dirty="0" smtClean="0"/>
          </a:p>
          <a:p>
            <a:r>
              <a:rPr lang="uk-UA" dirty="0" smtClean="0">
                <a:solidFill>
                  <a:srgbClr val="FF0000"/>
                </a:solidFill>
              </a:rPr>
              <a:t>http://</a:t>
            </a:r>
            <a:r>
              <a:rPr lang="uk-UA" dirty="0" smtClean="0">
                <a:solidFill>
                  <a:srgbClr val="0000FF"/>
                </a:solidFill>
              </a:rPr>
              <a:t>www.google.com.ua</a:t>
            </a:r>
            <a:r>
              <a:rPr lang="uk-UA" dirty="0" smtClean="0">
                <a:solidFill>
                  <a:srgbClr val="00B050"/>
                </a:solidFill>
              </a:rPr>
              <a:t>/</a:t>
            </a:r>
            <a:r>
              <a:rPr lang="uk-UA" dirty="0" smtClean="0">
                <a:solidFill>
                  <a:srgbClr val="008000"/>
                </a:solidFill>
              </a:rPr>
              <a:t>search</a:t>
            </a:r>
            <a:r>
              <a:rPr lang="uk-UA" dirty="0" smtClean="0">
                <a:solidFill>
                  <a:srgbClr val="FF00FF"/>
                </a:solidFill>
              </a:rPr>
              <a:t>?q=About+URL</a:t>
            </a:r>
            <a:endParaRPr lang="uk-UA" dirty="0"/>
          </a:p>
        </p:txBody>
      </p:sp>
      <p:sp>
        <p:nvSpPr>
          <p:cNvPr id="13" name="Права фігурна дужка 12"/>
          <p:cNvSpPr/>
          <p:nvPr/>
        </p:nvSpPr>
        <p:spPr>
          <a:xfrm>
            <a:off x="4448944" y="908720"/>
            <a:ext cx="576064" cy="2736304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TextBox 14"/>
          <p:cNvSpPr txBox="1"/>
          <p:nvPr/>
        </p:nvSpPr>
        <p:spPr>
          <a:xfrm>
            <a:off x="5169024" y="2132856"/>
            <a:ext cx="47369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ctr"/>
            <a:r>
              <a:rPr lang="uk-UA" dirty="0" smtClean="0"/>
              <a:t>адреси </a:t>
            </a:r>
            <a:r>
              <a:rPr lang="uk-UA" b="1" dirty="0" smtClean="0"/>
              <a:t>сайтів</a:t>
            </a:r>
            <a:endParaRPr lang="uk-UA" b="1" dirty="0"/>
          </a:p>
        </p:txBody>
      </p:sp>
      <p:sp>
        <p:nvSpPr>
          <p:cNvPr id="16" name="Права фігурна дужка 15"/>
          <p:cNvSpPr/>
          <p:nvPr/>
        </p:nvSpPr>
        <p:spPr>
          <a:xfrm>
            <a:off x="6609184" y="3933056"/>
            <a:ext cx="576064" cy="2304256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TextBox 16"/>
          <p:cNvSpPr txBox="1"/>
          <p:nvPr/>
        </p:nvSpPr>
        <p:spPr>
          <a:xfrm>
            <a:off x="7329264" y="4797152"/>
            <a:ext cx="23042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ctr"/>
            <a:r>
              <a:rPr lang="uk-UA" dirty="0" smtClean="0"/>
              <a:t>адреси </a:t>
            </a:r>
          </a:p>
          <a:p>
            <a:pPr marL="342900" indent="-342900" algn="ctr"/>
            <a:r>
              <a:rPr lang="uk-UA" b="1" dirty="0" smtClean="0"/>
              <a:t>сторінок</a:t>
            </a:r>
            <a:endParaRPr lang="uk-UA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Веббраузер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668524" y="908720"/>
            <a:ext cx="8568952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uk-UA" dirty="0"/>
              <a:t> </a:t>
            </a:r>
            <a:r>
              <a:rPr lang="uk-UA" dirty="0" smtClean="0"/>
              <a:t>програма </a:t>
            </a:r>
            <a:r>
              <a:rPr lang="uk-UA" dirty="0"/>
              <a:t>для </a:t>
            </a:r>
            <a:r>
              <a:rPr lang="uk-UA" b="1" dirty="0" smtClean="0"/>
              <a:t>перегляду</a:t>
            </a:r>
            <a:r>
              <a:rPr lang="uk-UA" dirty="0" smtClean="0"/>
              <a:t> вебсторінок </a:t>
            </a:r>
            <a:r>
              <a:rPr lang="uk-UA" dirty="0"/>
              <a:t>і </a:t>
            </a:r>
            <a:r>
              <a:rPr lang="uk-UA" b="1" dirty="0" smtClean="0"/>
              <a:t>навігації</a:t>
            </a:r>
            <a:r>
              <a:rPr lang="uk-UA" dirty="0" smtClean="0"/>
              <a:t> ними</a:t>
            </a:r>
            <a:endParaRPr lang="uk-UA" dirty="0"/>
          </a:p>
        </p:txBody>
      </p:sp>
      <p:pic>
        <p:nvPicPr>
          <p:cNvPr id="8" name="Рисунок 7" descr="Apps-google-chrome-icon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233000" y="4365104"/>
            <a:ext cx="1440000" cy="1440000"/>
          </a:xfrm>
          <a:prstGeom prst="rect">
            <a:avLst/>
          </a:prstGeom>
        </p:spPr>
      </p:pic>
      <p:pic>
        <p:nvPicPr>
          <p:cNvPr id="9" name="Рисунок 8" descr="firefox-256.jp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208440" y="1844824"/>
            <a:ext cx="1440000" cy="1440000"/>
          </a:xfrm>
          <a:prstGeom prst="rect">
            <a:avLst/>
          </a:prstGeom>
        </p:spPr>
      </p:pic>
      <p:pic>
        <p:nvPicPr>
          <p:cNvPr id="10" name="Рисунок 9" descr="Internet_Explorer_7_Logo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7185104" y="1844824"/>
            <a:ext cx="1440000" cy="14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40" y="3501008"/>
            <a:ext cx="25920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ctr"/>
            <a:r>
              <a:rPr lang="en-US" b="1" dirty="0" smtClean="0"/>
              <a:t>Mozilla Firefox</a:t>
            </a:r>
            <a:endParaRPr lang="uk-UA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609104" y="3501008"/>
            <a:ext cx="25920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ctr"/>
            <a:r>
              <a:rPr lang="en-US" b="1" dirty="0" smtClean="0"/>
              <a:t>Internet Explorer</a:t>
            </a:r>
            <a:endParaRPr lang="uk-UA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657000" y="6021288"/>
            <a:ext cx="25920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ctr"/>
            <a:r>
              <a:rPr lang="en-US" b="1" dirty="0" smtClean="0"/>
              <a:t>Google Chrome</a:t>
            </a:r>
            <a:endParaRPr lang="uk-UA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Веббраузер</a:t>
            </a:r>
            <a:endParaRPr lang="uk-UA" dirty="0"/>
          </a:p>
        </p:txBody>
      </p:sp>
      <p:grpSp>
        <p:nvGrpSpPr>
          <p:cNvPr id="3" name="Групувати 10"/>
          <p:cNvGrpSpPr>
            <a:grpSpLocks/>
          </p:cNvGrpSpPr>
          <p:nvPr/>
        </p:nvGrpSpPr>
        <p:grpSpPr bwMode="auto">
          <a:xfrm>
            <a:off x="1666852" y="1571612"/>
            <a:ext cx="6796883" cy="4737418"/>
            <a:chOff x="2994627" y="1571612"/>
            <a:chExt cx="6043874" cy="4736899"/>
          </a:xfrm>
        </p:grpSpPr>
        <p:pic>
          <p:nvPicPr>
            <p:cNvPr id="6" name="Picture 8" descr="Netscape Navigator"/>
            <p:cNvPicPr>
              <a:picLocks noChangeAspect="1" noChangeArrowheads="1"/>
            </p:cNvPicPr>
            <p:nvPr/>
          </p:nvPicPr>
          <p:blipFill>
            <a:blip r:embed="rId2" cstate="screen"/>
            <a:srcRect/>
            <a:stretch>
              <a:fillRect/>
            </a:stretch>
          </p:blipFill>
          <p:spPr bwMode="auto">
            <a:xfrm>
              <a:off x="2994627" y="1571612"/>
              <a:ext cx="5902273" cy="4427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9"/>
            <p:cNvSpPr txBox="1">
              <a:spLocks noChangeArrowheads="1"/>
            </p:cNvSpPr>
            <p:nvPr/>
          </p:nvSpPr>
          <p:spPr bwMode="auto">
            <a:xfrm>
              <a:off x="3000364" y="6000768"/>
              <a:ext cx="6038137" cy="307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uk-UA" sz="1400" b="1" dirty="0" smtClean="0"/>
                <a:t>Перший</a:t>
              </a:r>
              <a:r>
                <a:rPr lang="uk-UA" sz="1400" dirty="0" smtClean="0"/>
                <a:t> </a:t>
              </a:r>
              <a:r>
                <a:rPr lang="uk-UA" sz="1400" dirty="0" err="1" smtClean="0"/>
                <a:t>веббраузер</a:t>
              </a:r>
              <a:r>
                <a:rPr lang="uk-UA" sz="1400" dirty="0" smtClean="0"/>
                <a:t> </a:t>
              </a:r>
              <a:r>
                <a:rPr lang="uk-UA" sz="1400" dirty="0"/>
                <a:t>– </a:t>
              </a:r>
              <a:r>
                <a:rPr lang="en-US" sz="1400" dirty="0"/>
                <a:t>Netscape </a:t>
              </a:r>
              <a:r>
                <a:rPr lang="en-US" sz="1400" dirty="0" smtClean="0"/>
                <a:t>Navigator</a:t>
              </a:r>
              <a:r>
                <a:rPr lang="uk-UA" sz="1400" dirty="0" smtClean="0"/>
                <a:t>,</a:t>
              </a:r>
              <a:r>
                <a:rPr lang="en-US" sz="1400" dirty="0" smtClean="0"/>
                <a:t> 1994 </a:t>
              </a:r>
              <a:r>
                <a:rPr lang="uk-UA" sz="1400" dirty="0"/>
                <a:t>р</a:t>
              </a:r>
              <a:r>
                <a:rPr lang="uk-UA" sz="1400" dirty="0" smtClean="0"/>
                <a:t>.</a:t>
              </a:r>
              <a:endParaRPr lang="uk-UA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Браузери</a:t>
            </a:r>
            <a:endParaRPr lang="uk-UA" dirty="0"/>
          </a:p>
        </p:txBody>
      </p:sp>
      <p:pic>
        <p:nvPicPr>
          <p:cNvPr id="67586" name="Picture 2" descr="https://storage.googleapis.com/support-kms-prod/SNP_0DB0583C11E59B35ACFDEBFE368D0C435984_3420796_ru_v0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80968" y="764704"/>
            <a:ext cx="5181600" cy="1008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745088" y="1052736"/>
            <a:ext cx="3888432" cy="36933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dirty="0" smtClean="0"/>
              <a:t>відкриття сторінки за адресою</a:t>
            </a: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1784648" y="2101286"/>
            <a:ext cx="748883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/>
            <a:r>
              <a:rPr lang="uk-UA" dirty="0" smtClean="0"/>
              <a:t>улюблені сторінки</a:t>
            </a:r>
            <a:r>
              <a:rPr lang="uk-UA" sz="1600" dirty="0" smtClean="0"/>
              <a:t> – </a:t>
            </a:r>
            <a:r>
              <a:rPr lang="uk-UA" sz="1600" b="1" dirty="0" smtClean="0"/>
              <a:t>закладки (обране)</a:t>
            </a:r>
            <a:endParaRPr lang="uk-UA" dirty="0"/>
          </a:p>
        </p:txBody>
      </p:sp>
      <p:pic>
        <p:nvPicPr>
          <p:cNvPr id="67588" name="Picture 4" descr="http://lh3.ggpht.com/fIlbM4alNQWAaDCVOulo9NtB5WsXTGr6we3v4surIzNnSb17ELLdb0BT79-FTPW5Z_EG4SF-u-U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401676" y="1925952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7590" name="Picture 6" descr="http://beginpc.ru/images/internet/home.jp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01676" y="3674490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784648" y="3834434"/>
            <a:ext cx="748883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/>
            <a:r>
              <a:rPr lang="uk-UA" dirty="0" smtClean="0"/>
              <a:t>початкова </a:t>
            </a:r>
            <a:r>
              <a:rPr lang="uk-UA" sz="1600" dirty="0" smtClean="0"/>
              <a:t>(</a:t>
            </a:r>
            <a:r>
              <a:rPr lang="uk-UA" sz="1600" b="1" dirty="0" smtClean="0"/>
              <a:t>домашня</a:t>
            </a:r>
            <a:r>
              <a:rPr lang="uk-UA" sz="1600" dirty="0" smtClean="0"/>
              <a:t>)</a:t>
            </a:r>
            <a:r>
              <a:rPr lang="uk-UA" dirty="0" smtClean="0"/>
              <a:t> сторінка</a:t>
            </a:r>
            <a:endParaRPr lang="uk-UA" dirty="0"/>
          </a:p>
        </p:txBody>
      </p:sp>
      <p:pic>
        <p:nvPicPr>
          <p:cNvPr id="67592" name="Picture 8" descr="http://www.joomdom.com/uploads/posts/2012-08/1345389877_virtuemart2-install-update.png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401676" y="5423026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758998" y="5598360"/>
            <a:ext cx="748883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/>
            <a:r>
              <a:rPr lang="uk-UA" dirty="0" smtClean="0"/>
              <a:t>оновлення сторінки</a:t>
            </a:r>
            <a:endParaRPr lang="uk-UA" dirty="0"/>
          </a:p>
        </p:txBody>
      </p:sp>
      <p:pic>
        <p:nvPicPr>
          <p:cNvPr id="67594" name="Picture 10" descr="http://bstavroulakis.com/blog/wp-content/uploads/2012/04/Back-1.pn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401676" y="4548759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784648" y="4701008"/>
            <a:ext cx="748883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/>
            <a:r>
              <a:rPr lang="uk-UA" dirty="0" smtClean="0"/>
              <a:t>попередня сторінка</a:t>
            </a:r>
            <a:endParaRPr lang="uk-UA" sz="2000" dirty="0"/>
          </a:p>
        </p:txBody>
      </p:sp>
      <p:pic>
        <p:nvPicPr>
          <p:cNvPr id="18" name="Picture 4" descr="https://cdn1.iconfinder.com/data/icons/healthcare-and-medicine-simplicity/512/clock_watch_time-256.pn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401676" y="2800221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784648" y="2967860"/>
            <a:ext cx="748883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/>
            <a:r>
              <a:rPr lang="uk-UA" dirty="0" smtClean="0"/>
              <a:t>відвідані сторінки – </a:t>
            </a:r>
            <a:r>
              <a:rPr lang="uk-UA" sz="1600" b="1" dirty="0" smtClean="0"/>
              <a:t>журнал (історія)</a:t>
            </a:r>
            <a:endParaRPr lang="uk-UA" sz="1600" dirty="0"/>
          </a:p>
        </p:txBody>
      </p:sp>
      <p:sp>
        <p:nvSpPr>
          <p:cNvPr id="17" name="Кнопка дії: додому 16">
            <a:hlinkClick r:id="" action="ppaction://hlinkshowjump?jump=firstslide" highlightClick="1"/>
          </p:cNvPr>
          <p:cNvSpPr>
            <a:spLocks noChangeAspect="1"/>
          </p:cNvSpPr>
          <p:nvPr/>
        </p:nvSpPr>
        <p:spPr>
          <a:xfrm>
            <a:off x="-8" y="6453336"/>
            <a:ext cx="488504" cy="40466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Пошук в Інтернеті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Мережеві технології та Інтернет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Пошукові системи</a:t>
            </a: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1422281" y="857232"/>
            <a:ext cx="7061438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dirty="0" smtClean="0"/>
              <a:t>програми, призначені для пошуку інформації в Інтернеті за </a:t>
            </a:r>
            <a:r>
              <a:rPr lang="uk-UA" b="1" dirty="0" smtClean="0"/>
              <a:t>ключовими словами</a:t>
            </a:r>
            <a:endParaRPr lang="uk-UA" dirty="0" smtClean="0"/>
          </a:p>
        </p:txBody>
      </p:sp>
      <p:pic>
        <p:nvPicPr>
          <p:cNvPr id="5122" name="Picture 2" descr="http://3.bp.blogspot.com/-qXtmJRAlJcA/U413iy_YzKI/AAAAAAAAOn8/Ajr4B8h9TcE/s1600/google-logo-high-res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296817" y="2571744"/>
            <a:ext cx="3312367" cy="1137023"/>
          </a:xfrm>
          <a:prstGeom prst="rect">
            <a:avLst/>
          </a:prstGeom>
          <a:noFill/>
        </p:spPr>
      </p:pic>
      <p:pic>
        <p:nvPicPr>
          <p:cNvPr id="5124" name="Picture 4" descr="http://wvw.ucoz.com/11/META_UA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09530" y="3910019"/>
            <a:ext cx="2857500" cy="895351"/>
          </a:xfrm>
          <a:prstGeom prst="rect">
            <a:avLst/>
          </a:prstGeom>
          <a:noFill/>
        </p:spPr>
      </p:pic>
      <p:pic>
        <p:nvPicPr>
          <p:cNvPr id="5126" name="Picture 6" descr="http://yastatic.net/morda-logo/i/share-logo-ru.pn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7310454" y="3786190"/>
            <a:ext cx="2286000" cy="1143008"/>
          </a:xfrm>
          <a:prstGeom prst="rect">
            <a:avLst/>
          </a:prstGeom>
          <a:noFill/>
        </p:spPr>
      </p:pic>
      <p:pic>
        <p:nvPicPr>
          <p:cNvPr id="5128" name="Picture 8" descr="http://www.immap.com.ph/wp-content/uploads/2013/09/Yahoo-new-logo.png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3167050" y="5286388"/>
            <a:ext cx="3643338" cy="8572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Знайдена інформація</a:t>
            </a:r>
            <a:endParaRPr lang="uk-UA" dirty="0"/>
          </a:p>
        </p:txBody>
      </p:sp>
      <p:graphicFrame>
        <p:nvGraphicFramePr>
          <p:cNvPr id="4" name="Схема 3"/>
          <p:cNvGraphicFramePr/>
          <p:nvPr/>
        </p:nvGraphicFramePr>
        <p:xfrm>
          <a:off x="1064568" y="1227666"/>
          <a:ext cx="7776864" cy="5081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6AC9BE-B664-4F3C-831F-6548E6367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836AC9BE-B664-4F3C-831F-6548E6367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5D6715E-C71F-432E-A7B0-E2D59402FA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85D6715E-C71F-432E-A7B0-E2D59402FA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0B1F94-0A7F-4FA8-9E31-7C300C89ED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6B0B1F94-0A7F-4FA8-9E31-7C300C89ED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482F94-500A-45B1-AE16-A033EEBDC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B0482F94-500A-45B1-AE16-A033EEBDCE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A19AF5-12E9-4073-B04F-5A414D8D6F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72A19AF5-12E9-4073-B04F-5A414D8D6F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D61E64D-A1B0-469F-92BF-9AC2AF6019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BD61E64D-A1B0-469F-92BF-9AC2AF6019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7AE149C-2793-48F0-8AB4-DDE6BBF1FB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graphicEl>
                                              <a:dgm id="{A7AE149C-2793-48F0-8AB4-DDE6BBF1FB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solidFill>
                  <a:schemeClr val="bg1"/>
                </a:solidFill>
              </a:rPr>
              <a:t>Розширений пошук</a:t>
            </a:r>
            <a:endParaRPr lang="uk-UA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26101"/>
            <a:ext cx="9906000" cy="1331899"/>
          </a:xfrm>
          <a:prstGeom prst="rect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8224" y="714356"/>
            <a:ext cx="8005773" cy="4714908"/>
          </a:xfrm>
          <a:prstGeom prst="rect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Розширений пошук</a:t>
            </a:r>
            <a:endParaRPr lang="uk-UA" dirty="0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548844" y="836712"/>
            <a:ext cx="2808312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67383" y="2357430"/>
            <a:ext cx="7971234" cy="313932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uk-UA" dirty="0" smtClean="0"/>
              <a:t>вебсторінок </a:t>
            </a:r>
            <a:r>
              <a:rPr lang="uk-UA" sz="1600" dirty="0" smtClean="0"/>
              <a:t>(мова, регіон)</a:t>
            </a: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r>
              <a:rPr lang="uk-UA" dirty="0" smtClean="0"/>
              <a:t>зображень </a:t>
            </a:r>
            <a:r>
              <a:rPr lang="uk-UA" sz="1600" dirty="0" smtClean="0"/>
              <a:t>(розмір, колір, тип)</a:t>
            </a: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r>
              <a:rPr lang="uk-UA" dirty="0" smtClean="0"/>
              <a:t>відео </a:t>
            </a:r>
            <a:r>
              <a:rPr lang="uk-UA" sz="1600" dirty="0" smtClean="0"/>
              <a:t>(тривалість, якість)</a:t>
            </a: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r>
              <a:rPr lang="uk-UA" dirty="0" smtClean="0"/>
              <a:t>певного типу файлу</a:t>
            </a:r>
          </a:p>
          <a:p>
            <a:pPr marL="342900" indent="-342900">
              <a:buFont typeface="Wingdings" pitchFamily="2" charset="2"/>
              <a:buChar char="v"/>
            </a:pP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r>
              <a:rPr lang="uk-UA" dirty="0" smtClean="0"/>
              <a:t>на певному </a:t>
            </a:r>
            <a:r>
              <a:rPr lang="uk-UA" dirty="0" err="1" smtClean="0"/>
              <a:t>вебсайті</a:t>
            </a: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endParaRPr lang="uk-UA" dirty="0" smtClean="0"/>
          </a:p>
          <a:p>
            <a:pPr marL="342900" indent="-342900">
              <a:buFont typeface="Wingdings" pitchFamily="2" charset="2"/>
              <a:buChar char="v"/>
            </a:pPr>
            <a:r>
              <a:rPr lang="uk-UA" dirty="0" smtClean="0"/>
              <a:t>з безпечних ресурсів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42918"/>
            <a:ext cx="9906000" cy="6000768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Збереження даних</a:t>
            </a:r>
            <a:endParaRPr lang="uk-UA" dirty="0"/>
          </a:p>
        </p:txBody>
      </p: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396716" y="3068960"/>
            <a:ext cx="5112568" cy="33525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7" name="Пряма зі стрілкою 6"/>
          <p:cNvCxnSpPr/>
          <p:nvPr/>
        </p:nvCxnSpPr>
        <p:spPr>
          <a:xfrm flipH="1">
            <a:off x="6465168" y="4509120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8544" y="908720"/>
            <a:ext cx="820891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uk-UA" b="1" dirty="0" smtClean="0"/>
              <a:t>Текст</a:t>
            </a:r>
            <a:r>
              <a:rPr lang="uk-UA" dirty="0" smtClean="0"/>
              <a:t> і </a:t>
            </a:r>
            <a:r>
              <a:rPr lang="uk-UA" b="1" dirty="0" smtClean="0"/>
              <a:t>зображення</a:t>
            </a:r>
            <a:r>
              <a:rPr lang="uk-UA" dirty="0" smtClean="0"/>
              <a:t> треба виділити, скопіювати і вставити у програму </a:t>
            </a:r>
            <a:r>
              <a:rPr lang="uk-UA" sz="1400" dirty="0" smtClean="0">
                <a:solidFill>
                  <a:srgbClr val="0000FF"/>
                </a:solidFill>
              </a:rPr>
              <a:t>(наприклад, </a:t>
            </a:r>
            <a:r>
              <a:rPr lang="en-US" sz="1400" dirty="0" smtClean="0">
                <a:solidFill>
                  <a:srgbClr val="0000FF"/>
                </a:solidFill>
              </a:rPr>
              <a:t>Paint </a:t>
            </a:r>
            <a:r>
              <a:rPr lang="uk-UA" sz="1400" dirty="0" smtClean="0">
                <a:solidFill>
                  <a:srgbClr val="0000FF"/>
                </a:solidFill>
              </a:rPr>
              <a:t>чи </a:t>
            </a:r>
            <a:r>
              <a:rPr lang="en-US" sz="1400" dirty="0" smtClean="0">
                <a:solidFill>
                  <a:srgbClr val="0000FF"/>
                </a:solidFill>
              </a:rPr>
              <a:t>Word)</a:t>
            </a: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uk-UA" b="1" dirty="0" smtClean="0"/>
              <a:t>Зображення</a:t>
            </a:r>
            <a:r>
              <a:rPr lang="uk-UA" dirty="0" smtClean="0"/>
              <a:t> можна зберегти одразу як файл</a:t>
            </a:r>
          </a:p>
          <a:p>
            <a:pPr marL="342900" indent="-342900">
              <a:buAutoNum type="arabicPeriod"/>
            </a:pPr>
            <a:endParaRPr lang="uk-UA" dirty="0" smtClean="0"/>
          </a:p>
          <a:p>
            <a:pPr marL="342900" indent="-342900">
              <a:buAutoNum type="arabicPeriod"/>
            </a:pPr>
            <a:r>
              <a:rPr lang="uk-UA" b="1" dirty="0" smtClean="0"/>
              <a:t>Відео</a:t>
            </a:r>
            <a:r>
              <a:rPr lang="uk-UA" dirty="0" smtClean="0"/>
              <a:t> і </a:t>
            </a:r>
            <a:r>
              <a:rPr lang="uk-UA" b="1" dirty="0" smtClean="0"/>
              <a:t>музика</a:t>
            </a:r>
            <a:r>
              <a:rPr lang="uk-UA" dirty="0" smtClean="0"/>
              <a:t> завантажуються зі спеціальних </a:t>
            </a:r>
            <a:r>
              <a:rPr lang="uk-UA" dirty="0" err="1" smtClean="0"/>
              <a:t>вебсайтів</a:t>
            </a:r>
            <a:endParaRPr lang="uk-UA" dirty="0"/>
          </a:p>
        </p:txBody>
      </p:sp>
      <p:sp>
        <p:nvSpPr>
          <p:cNvPr id="8" name="Кнопка дії: додому 7">
            <a:hlinkClick r:id="" action="ppaction://hlinkshowjump?jump=firstslide" highlightClick="1"/>
          </p:cNvPr>
          <p:cNvSpPr>
            <a:spLocks noChangeAspect="1"/>
          </p:cNvSpPr>
          <p:nvPr/>
        </p:nvSpPr>
        <p:spPr>
          <a:xfrm>
            <a:off x="-8" y="6453336"/>
            <a:ext cx="488504" cy="40466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Авторське право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Мережеві технології та Інтернет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Правила безпеки при пошуку в Інтернеті</a:t>
            </a: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1134819" y="1412776"/>
            <a:ext cx="7636362" cy="270843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itchFamily="2" charset="2"/>
              <a:buChar char="q"/>
            </a:pPr>
            <a:r>
              <a:rPr lang="uk-UA" sz="2000" b="1" dirty="0" smtClean="0">
                <a:ln w="1905"/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захист особистих даних</a:t>
            </a:r>
          </a:p>
          <a:p>
            <a:pPr marL="342900" indent="-342900">
              <a:lnSpc>
                <a:spcPct val="250000"/>
              </a:lnSpc>
              <a:buFont typeface="Wingdings" pitchFamily="2" charset="2"/>
              <a:buChar char="q"/>
            </a:pPr>
            <a:r>
              <a:rPr lang="uk-UA" sz="2000" b="1" dirty="0" smtClean="0">
                <a:ln w="1905"/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захист від шкідливих програм</a:t>
            </a:r>
          </a:p>
          <a:p>
            <a:pPr marL="342900" indent="-342900">
              <a:lnSpc>
                <a:spcPct val="250000"/>
              </a:lnSpc>
              <a:buFont typeface="Wingdings" pitchFamily="2" charset="2"/>
              <a:buChar char="q"/>
            </a:pPr>
            <a:r>
              <a:rPr lang="en-US" sz="2000" b="1" dirty="0" smtClean="0">
                <a:ln w="1905"/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uk-UA" sz="2000" b="1" dirty="0" smtClean="0">
                <a:ln w="1905"/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захист від загрозливого вмісту</a:t>
            </a:r>
            <a:endParaRPr lang="en-US" sz="2000" b="1" dirty="0" smtClean="0">
              <a:ln w="1905"/>
              <a:solidFill>
                <a:schemeClr val="tx1">
                  <a:lumMod val="75000"/>
                  <a:lumOff val="2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342900" indent="-342900">
              <a:buFont typeface="Wingdings" pitchFamily="2" charset="2"/>
              <a:buChar char="q"/>
            </a:pPr>
            <a:endParaRPr lang="uk-UA" sz="2000" b="1" dirty="0">
              <a:ln w="1905"/>
              <a:solidFill>
                <a:schemeClr val="tx1">
                  <a:lumMod val="75000"/>
                  <a:lumOff val="2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Авторське право</a:t>
            </a:r>
            <a:endParaRPr lang="uk-UA" dirty="0"/>
          </a:p>
        </p:txBody>
      </p:sp>
      <p:sp>
        <p:nvSpPr>
          <p:cNvPr id="9" name="TextBox 8"/>
          <p:cNvSpPr txBox="1"/>
          <p:nvPr/>
        </p:nvSpPr>
        <p:spPr>
          <a:xfrm>
            <a:off x="1044809" y="1857364"/>
            <a:ext cx="7816382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uk-UA" u="sng" dirty="0" smtClean="0">
                <a:solidFill>
                  <a:schemeClr val="tx1"/>
                </a:solidFill>
              </a:rPr>
              <a:t>Усі дані</a:t>
            </a:r>
            <a:r>
              <a:rPr lang="uk-UA" dirty="0" smtClean="0">
                <a:solidFill>
                  <a:schemeClr val="tx1"/>
                </a:solidFill>
              </a:rPr>
              <a:t> </a:t>
            </a:r>
            <a:r>
              <a:rPr lang="uk-UA" dirty="0" smtClean="0"/>
              <a:t>в Інтернеті є </a:t>
            </a:r>
            <a:r>
              <a:rPr lang="uk-UA" b="1" dirty="0" smtClean="0"/>
              <a:t>захищені</a:t>
            </a:r>
            <a:r>
              <a:rPr lang="uk-UA" dirty="0" smtClean="0"/>
              <a:t> авторським правом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endParaRPr lang="uk-UA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uk-UA" dirty="0" smtClean="0">
                <a:solidFill>
                  <a:schemeClr val="tx1"/>
                </a:solidFill>
              </a:rPr>
              <a:t>Використовуючи дані </a:t>
            </a:r>
            <a:r>
              <a:rPr lang="uk-UA" u="sng" dirty="0" smtClean="0">
                <a:solidFill>
                  <a:schemeClr val="tx1"/>
                </a:solidFill>
              </a:rPr>
              <a:t>для навчання </a:t>
            </a:r>
            <a:r>
              <a:rPr lang="uk-UA" dirty="0" smtClean="0">
                <a:solidFill>
                  <a:schemeClr val="tx1"/>
                </a:solidFill>
              </a:rPr>
              <a:t>обов’язково вказувати автора і </a:t>
            </a:r>
            <a:r>
              <a:rPr lang="uk-UA" b="1" dirty="0" smtClean="0">
                <a:solidFill>
                  <a:schemeClr val="tx1"/>
                </a:solidFill>
              </a:rPr>
              <a:t>посилання</a:t>
            </a:r>
            <a:r>
              <a:rPr lang="uk-UA" dirty="0" smtClean="0">
                <a:solidFill>
                  <a:schemeClr val="tx1"/>
                </a:solidFill>
              </a:rPr>
              <a:t> на сайт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b="1" dirty="0" smtClean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b="1" dirty="0" smtClean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uk-UA" b="1" dirty="0" smtClean="0">
                <a:solidFill>
                  <a:schemeClr val="tx1"/>
                </a:solidFill>
              </a:rPr>
              <a:t>Не розповсюджувати </a:t>
            </a:r>
            <a:r>
              <a:rPr lang="uk-UA" dirty="0" smtClean="0">
                <a:solidFill>
                  <a:schemeClr val="tx1"/>
                </a:solidFill>
              </a:rPr>
              <a:t>дані без дозволу їхнього автора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059761" y="785794"/>
            <a:ext cx="5786478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ctr"/>
            <a:r>
              <a:rPr lang="uk-UA" sz="1400" dirty="0" smtClean="0">
                <a:solidFill>
                  <a:srgbClr val="0000FF"/>
                </a:solidFill>
              </a:rPr>
              <a:t>(для даних, завантажених з Інтернету)</a:t>
            </a:r>
            <a:endParaRPr lang="uk-UA" sz="1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Копіювання адреси (посилання)</a:t>
            </a:r>
            <a:endParaRPr lang="uk-UA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360712" y="980728"/>
            <a:ext cx="5112568" cy="33525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04528" y="4581128"/>
            <a:ext cx="864096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342900" indent="-342900" algn="just"/>
            <a:r>
              <a:rPr lang="en-US" dirty="0" smtClean="0">
                <a:solidFill>
                  <a:srgbClr val="0000FF"/>
                </a:solidFill>
              </a:rPr>
              <a:t>https://uk.wikipedia.org/wiki/%D0%A8%D0%B0%D0%B1%D0%BB%D0%BE%D0%BD:%D0%9D%D0%B5%D0%B4%D0%BE%D1%81%D1%82%D1%83%D0%BF%D0%BD%D0%B5_%D0%BF%D0%BE%D1%81%D0%B8%D0%BB%D0%B0%D0%BD%D0%BD%D1%8F</a:t>
            </a:r>
            <a:endParaRPr lang="uk-UA" dirty="0">
              <a:solidFill>
                <a:srgbClr val="0000FF"/>
              </a:solidFill>
            </a:endParaRPr>
          </a:p>
        </p:txBody>
      </p:sp>
      <p:sp>
        <p:nvSpPr>
          <p:cNvPr id="5" name="Кнопка дії: додому 4">
            <a:hlinkClick r:id="" action="ppaction://hlinkshowjump?jump=firstslide" highlightClick="1"/>
          </p:cNvPr>
          <p:cNvSpPr>
            <a:spLocks noChangeAspect="1"/>
          </p:cNvSpPr>
          <p:nvPr/>
        </p:nvSpPr>
        <p:spPr>
          <a:xfrm>
            <a:off x="-8" y="6453336"/>
            <a:ext cx="488504" cy="40466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>
                <a:latin typeface="Calibri" pitchFamily="34" charset="0"/>
              </a:rPr>
              <a:t>Навчання в Інтернеті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Мережеві технології та Інтернет</a:t>
            </a:r>
            <a:endParaRPr lang="uk-U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Перекладач – </a:t>
            </a:r>
            <a:r>
              <a:rPr lang="en-US" dirty="0" smtClean="0"/>
              <a:t>slovnenya.com</a:t>
            </a:r>
            <a:endParaRPr lang="uk-U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244588" y="1196752"/>
            <a:ext cx="7416824" cy="48965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Перекладач – </a:t>
            </a:r>
            <a:r>
              <a:rPr lang="en-US" dirty="0" smtClean="0"/>
              <a:t>slovnyk.org</a:t>
            </a:r>
            <a:endParaRPr lang="uk-U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00236" y="1700808"/>
            <a:ext cx="9705528" cy="33843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Перекладач – </a:t>
            </a:r>
            <a:r>
              <a:rPr lang="en-US" dirty="0" smtClean="0"/>
              <a:t>translate.google.com.ua</a:t>
            </a:r>
            <a:endParaRPr lang="uk-U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64468" y="764704"/>
            <a:ext cx="9577064" cy="58052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Словник – </a:t>
            </a:r>
            <a:r>
              <a:rPr lang="en-US" dirty="0" smtClean="0"/>
              <a:t>Lcorp.ulif.org.ua/</a:t>
            </a:r>
            <a:r>
              <a:rPr lang="en-US" dirty="0" err="1" smtClean="0"/>
              <a:t>dictua</a:t>
            </a:r>
            <a:r>
              <a:rPr lang="en-US" dirty="0" smtClean="0"/>
              <a:t>/</a:t>
            </a:r>
            <a:endParaRPr lang="uk-U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64468" y="1052736"/>
            <a:ext cx="9577064" cy="54726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Словник – </a:t>
            </a:r>
            <a:r>
              <a:rPr lang="en-US" dirty="0" smtClean="0"/>
              <a:t>slovopedia.org.ua</a:t>
            </a:r>
            <a:endParaRPr lang="uk-UA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screen"/>
          <a:srcRect l="26966" t="12870" r="12791" b="5861"/>
          <a:stretch>
            <a:fillRect/>
          </a:stretch>
        </p:blipFill>
        <p:spPr bwMode="auto">
          <a:xfrm>
            <a:off x="1280592" y="665312"/>
            <a:ext cx="7344816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Кнопка дії: додому 4">
            <a:hlinkClick r:id="" action="ppaction://hlinkshowjump?jump=firstslide" highlightClick="1"/>
          </p:cNvPr>
          <p:cNvSpPr>
            <a:spLocks noChangeAspect="1"/>
          </p:cNvSpPr>
          <p:nvPr/>
        </p:nvSpPr>
        <p:spPr>
          <a:xfrm>
            <a:off x="-8" y="6453336"/>
            <a:ext cx="488504" cy="40466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пеціальне оформленн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Другая 1">
      <a:majorFont>
        <a:latin typeface="Calibri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>
        <a:spAutoFit/>
      </a:bodyPr>
      <a:lstStyle>
        <a:defPPr marL="342900" indent="-342900"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819</Words>
  <Application>Microsoft Office PowerPoint</Application>
  <PresentationFormat>Аркуш A4 (210x297 мм)</PresentationFormat>
  <Paragraphs>249</Paragraphs>
  <Slides>43</Slides>
  <Notes>40</Notes>
  <HiddenSlides>10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43</vt:i4>
      </vt:variant>
    </vt:vector>
  </HeadingPairs>
  <TitlesOfParts>
    <vt:vector size="44" baseType="lpstr">
      <vt:lpstr>Спеціальне оформлення</vt:lpstr>
      <vt:lpstr>Мережеві технології та Інтернет</vt:lpstr>
      <vt:lpstr>Власне цифрове середовище</vt:lpstr>
      <vt:lpstr>Пошук в Інтернеті</vt:lpstr>
      <vt:lpstr>Текстові документи</vt:lpstr>
      <vt:lpstr>Комп’ютерна графіка</vt:lpstr>
      <vt:lpstr>Алгоритми та програми. Анімації та узори</vt:lpstr>
      <vt:lpstr>Презентації та анімації</vt:lpstr>
      <vt:lpstr>Інформаційні системи та мережі</vt:lpstr>
      <vt:lpstr>Спілкування в Інтернеті</vt:lpstr>
      <vt:lpstr>Інформаційна мозаїка</vt:lpstr>
      <vt:lpstr>Алгоритми та програми. Ігрові проєкти</vt:lpstr>
      <vt:lpstr>Локальна мережа</vt:lpstr>
      <vt:lpstr>Комп’ютерна мережа –</vt:lpstr>
      <vt:lpstr>Мережа буває</vt:lpstr>
      <vt:lpstr>Спільне використання Інтернету</vt:lpstr>
      <vt:lpstr>Спільне використання принтерів</vt:lpstr>
      <vt:lpstr>Обмін файлами, онлайн-спілкування</vt:lpstr>
      <vt:lpstr>Сервер</vt:lpstr>
      <vt:lpstr>Вебсайти</vt:lpstr>
      <vt:lpstr>Інтернет</vt:lpstr>
      <vt:lpstr>Інтернет-провайдер</vt:lpstr>
      <vt:lpstr>Що «пропонує» Інтернет?</vt:lpstr>
      <vt:lpstr>World Wide Web – Всесвітнє павутиння</vt:lpstr>
      <vt:lpstr>Адреси в Інтернеті</vt:lpstr>
      <vt:lpstr>Веббраузер</vt:lpstr>
      <vt:lpstr>Веббраузер</vt:lpstr>
      <vt:lpstr>Браузери</vt:lpstr>
      <vt:lpstr>Пошук в Інтернеті</vt:lpstr>
      <vt:lpstr>Пошукові системи</vt:lpstr>
      <vt:lpstr>Знайдена інформація</vt:lpstr>
      <vt:lpstr>Розширений пошук</vt:lpstr>
      <vt:lpstr>Розширений пошук</vt:lpstr>
      <vt:lpstr>Збереження даних</vt:lpstr>
      <vt:lpstr>Авторське право</vt:lpstr>
      <vt:lpstr>Правила безпеки при пошуку в Інтернеті</vt:lpstr>
      <vt:lpstr>Авторське право</vt:lpstr>
      <vt:lpstr>Копіювання адреси (посилання)</vt:lpstr>
      <vt:lpstr>Навчання в Інтернеті</vt:lpstr>
      <vt:lpstr>Перекладач – slovnenya.com</vt:lpstr>
      <vt:lpstr>Перекладач – slovnyk.org</vt:lpstr>
      <vt:lpstr>Перекладач – translate.google.com.ua</vt:lpstr>
      <vt:lpstr>Словник – Lcorp.ulif.org.ua/dictua/</vt:lpstr>
      <vt:lpstr>Словник – slovopedia.org.ua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2013-08-13T09:22:46Z</dcterms:created>
  <dcterms:modified xsi:type="dcterms:W3CDTF">2022-06-19T08:06:13Z</dcterms:modified>
</cp:coreProperties>
</file>